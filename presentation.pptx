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1" r:id="rId4"/>
    <p:sldId id="272" r:id="rId5"/>
    <p:sldId id="270" r:id="rId6"/>
    <p:sldId id="267" r:id="rId7"/>
    <p:sldId id="278" r:id="rId8"/>
    <p:sldId id="286" r:id="rId9"/>
    <p:sldId id="279" r:id="rId10"/>
    <p:sldId id="282" r:id="rId11"/>
    <p:sldId id="260" r:id="rId12"/>
    <p:sldId id="285" r:id="rId13"/>
    <p:sldId id="264" r:id="rId14"/>
    <p:sldId id="273" r:id="rId15"/>
    <p:sldId id="284" r:id="rId16"/>
    <p:sldId id="274" r:id="rId17"/>
    <p:sldId id="281" r:id="rId18"/>
    <p:sldId id="275" r:id="rId19"/>
    <p:sldId id="277" r:id="rId20"/>
    <p:sldId id="283" r:id="rId21"/>
    <p:sldId id="287" r:id="rId22"/>
    <p:sldId id="269" r:id="rId23"/>
  </p:sldIdLst>
  <p:sldSz cx="18288000" cy="10287000"/>
  <p:notesSz cx="6858000" cy="9144000"/>
  <p:embeddedFontLst>
    <p:embeddedFont>
      <p:font typeface=" Avenir Next Arabic" panose="020B0604020202020204" charset="-78"/>
      <p:regular r:id="rId25"/>
    </p:embeddedFont>
    <p:embeddedFont>
      <p:font typeface=" Avenir Next Arabic Bold" panose="020B0604020202020204" charset="-78"/>
      <p:regular r:id="rId26"/>
    </p:embeddedFont>
    <p:embeddedFont>
      <p:font typeface="Cambria" panose="02040503050406030204" pitchFamily="18" charset="0"/>
      <p:regular r:id="rId27"/>
      <p:bold r:id="rId28"/>
      <p:italic r:id="rId29"/>
      <p:boldItalic r:id="rId30"/>
    </p:embeddedFont>
    <p:embeddedFont>
      <p:font typeface="Cormorant Garamond Bold" panose="020B0604020202020204" charset="0"/>
      <p:regular r:id="rId31"/>
    </p:embeddedFont>
    <p:embeddedFont>
      <p:font typeface="IBM Plex Mono" panose="020B0509050203000203" pitchFamily="49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141D56-C555-44BE-87B4-79DB3729456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58E44-8D98-4788-9719-B150E9F52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203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2028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914400" y="-981075"/>
            <a:ext cx="19202400" cy="11268075"/>
            <a:chOff x="0" y="-38100"/>
            <a:chExt cx="25603200" cy="15024100"/>
          </a:xfrm>
        </p:grpSpPr>
        <p:sp>
          <p:nvSpPr>
            <p:cNvPr id="4" name="Freeform 4"/>
            <p:cNvSpPr/>
            <p:nvPr/>
          </p:nvSpPr>
          <p:spPr>
            <a:xfrm>
              <a:off x="10769600" y="1270000"/>
              <a:ext cx="14833600" cy="13716000"/>
            </a:xfrm>
            <a:custGeom>
              <a:avLst/>
              <a:gdLst/>
              <a:ahLst/>
              <a:cxnLst/>
              <a:rect l="l" t="t" r="r" b="b"/>
              <a:pathLst>
                <a:path w="15494000" h="13716000">
                  <a:moveTo>
                    <a:pt x="0" y="0"/>
                  </a:moveTo>
                  <a:lnTo>
                    <a:pt x="15494000" y="0"/>
                  </a:lnTo>
                  <a:lnTo>
                    <a:pt x="1549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chemeClr val="bg2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549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0600" y="952500"/>
            <a:ext cx="1428750" cy="54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4050" b="1">
                <a:solidFill>
                  <a:srgbClr val="FFFDF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FW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0600" y="2733675"/>
            <a:ext cx="7810500" cy="1163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lang="en-US" sz="8700" b="1">
                <a:solidFill>
                  <a:srgbClr val="FFFDF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ForeverWale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0600" y="4019550"/>
            <a:ext cx="6667500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 dirty="0">
                <a:solidFill>
                  <a:srgbClr val="EFDCD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A Trusted &amp; Family-Centric</a:t>
            </a:r>
          </a:p>
          <a:p>
            <a:pPr algn="l">
              <a:lnSpc>
                <a:spcPts val="3315"/>
              </a:lnSpc>
            </a:pPr>
            <a:r>
              <a:rPr lang="en-US" sz="2550" dirty="0">
                <a:solidFill>
                  <a:srgbClr val="EFDCD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Matrimonial Platform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0600" y="8724900"/>
            <a:ext cx="5905500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b="1" spc="243" dirty="0">
                <a:solidFill>
                  <a:srgbClr val="EFDCD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PROJECT PRESENTATION  •  AUGUST 24-AUGUST 26</a:t>
            </a:r>
          </a:p>
          <a:p>
            <a:pPr algn="l">
              <a:lnSpc>
                <a:spcPts val="2025"/>
              </a:lnSpc>
            </a:pPr>
            <a:r>
              <a:rPr lang="en-US" sz="1350" b="1" spc="243" dirty="0">
                <a:solidFill>
                  <a:srgbClr val="EFDCD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Prepared by: Project Team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8CEC95-398E-1AF1-BFD1-ED3A0E942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57150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533400"/>
            <a:ext cx="95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38350" y="485775"/>
            <a:ext cx="11239500" cy="413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150" b="1" dirty="0">
                <a:solidFill>
                  <a:srgbClr val="5C0E19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Project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782800" y="466298"/>
            <a:ext cx="26193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FOREVERWALE</a:t>
            </a:r>
          </a:p>
        </p:txBody>
      </p:sp>
      <p:sp>
        <p:nvSpPr>
          <p:cNvPr id="5" name="AutoShape 5"/>
          <p:cNvSpPr/>
          <p:nvPr/>
        </p:nvSpPr>
        <p:spPr>
          <a:xfrm>
            <a:off x="990600" y="1066800"/>
            <a:ext cx="16306800" cy="0"/>
          </a:xfrm>
          <a:prstGeom prst="line">
            <a:avLst/>
          </a:prstGeom>
          <a:ln w="19050" cap="flat">
            <a:solidFill>
              <a:srgbClr val="EFDCD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8534400" y="1143000"/>
            <a:ext cx="9372600" cy="8244840"/>
            <a:chOff x="0" y="0"/>
            <a:chExt cx="9601200" cy="9652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601200" cy="9652000"/>
            </a:xfrm>
            <a:custGeom>
              <a:avLst/>
              <a:gdLst/>
              <a:ahLst/>
              <a:cxnLst/>
              <a:rect l="l" t="t" r="r" b="b"/>
              <a:pathLst>
                <a:path w="9601200" h="9652000">
                  <a:moveTo>
                    <a:pt x="53757" y="0"/>
                  </a:moveTo>
                  <a:lnTo>
                    <a:pt x="9547444" y="0"/>
                  </a:lnTo>
                  <a:cubicBezTo>
                    <a:pt x="9561701" y="0"/>
                    <a:pt x="9575374" y="5664"/>
                    <a:pt x="9585455" y="15745"/>
                  </a:cubicBezTo>
                  <a:cubicBezTo>
                    <a:pt x="9595536" y="25826"/>
                    <a:pt x="9601200" y="39499"/>
                    <a:pt x="9601200" y="53757"/>
                  </a:cubicBezTo>
                  <a:lnTo>
                    <a:pt x="9601200" y="9598244"/>
                  </a:lnTo>
                  <a:cubicBezTo>
                    <a:pt x="9601200" y="9612501"/>
                    <a:pt x="9595536" y="9626174"/>
                    <a:pt x="9585455" y="9636255"/>
                  </a:cubicBezTo>
                  <a:cubicBezTo>
                    <a:pt x="9575374" y="9646336"/>
                    <a:pt x="9561701" y="9652000"/>
                    <a:pt x="9547444" y="9652000"/>
                  </a:cubicBezTo>
                  <a:lnTo>
                    <a:pt x="53757" y="9652000"/>
                  </a:lnTo>
                  <a:cubicBezTo>
                    <a:pt x="39499" y="9652000"/>
                    <a:pt x="25826" y="9646336"/>
                    <a:pt x="15745" y="9636255"/>
                  </a:cubicBezTo>
                  <a:cubicBezTo>
                    <a:pt x="5664" y="9626174"/>
                    <a:pt x="0" y="9612501"/>
                    <a:pt x="0" y="9598244"/>
                  </a:cubicBezTo>
                  <a:lnTo>
                    <a:pt x="0" y="53757"/>
                  </a:lnTo>
                  <a:cubicBezTo>
                    <a:pt x="0" y="39499"/>
                    <a:pt x="5664" y="25826"/>
                    <a:pt x="15745" y="15745"/>
                  </a:cubicBezTo>
                  <a:cubicBezTo>
                    <a:pt x="25826" y="5664"/>
                    <a:pt x="39499" y="0"/>
                    <a:pt x="53757" y="0"/>
                  </a:cubicBezTo>
                  <a:close/>
                </a:path>
              </a:pathLst>
            </a:custGeom>
            <a:solidFill>
              <a:srgbClr val="EFDCD2"/>
            </a:solidFill>
            <a:ln cap="rnd">
              <a:noFill/>
              <a:prstDash val="solid"/>
              <a:round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990600" y="1905000"/>
            <a:ext cx="8001000" cy="141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 b="1">
                <a:solidFill>
                  <a:srgbClr val="5C0E19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Matchmaking built</a:t>
            </a:r>
          </a:p>
          <a:p>
            <a:pPr algn="l">
              <a:lnSpc>
                <a:spcPts val="5400"/>
              </a:lnSpc>
            </a:pPr>
            <a:r>
              <a:rPr lang="en-US" sz="5400" b="1">
                <a:solidFill>
                  <a:srgbClr val="5C0E19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around trust — and family.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0600" y="3876675"/>
            <a:ext cx="7429500" cy="170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 dirty="0" err="1">
                <a:solidFill>
                  <a:srgbClr val="2B2024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ForeverWale</a:t>
            </a:r>
            <a:r>
              <a:rPr lang="en-US" sz="2025" dirty="0">
                <a:solidFill>
                  <a:srgbClr val="2B2024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 is a family-oriented matrimonial website designed to make meaningful introductions feel safe, clear and respectful. It addresses the lack of trustworthy, family-first digital matchmaking through detailed profiles, useful filters and an easy-to-follow experience.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0600" y="6648450"/>
            <a:ext cx="2095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43">
                <a:solidFill>
                  <a:srgbClr val="C48793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OBJECTIVE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0600" y="7096125"/>
            <a:ext cx="7429500" cy="730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7A1220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A secure, approachable platform where families can discover compatible matches with confidence.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FE195F-CDC2-8155-B67C-DCB064639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869" y="1355138"/>
            <a:ext cx="8885261" cy="7781480"/>
          </a:xfrm>
          <a:prstGeom prst="rect">
            <a:avLst/>
          </a:prstGeom>
        </p:spPr>
      </p:pic>
      <p:sp>
        <p:nvSpPr>
          <p:cNvPr id="15" name="AutoShape 5">
            <a:extLst>
              <a:ext uri="{FF2B5EF4-FFF2-40B4-BE49-F238E27FC236}">
                <a16:creationId xmlns:a16="http://schemas.microsoft.com/office/drawing/2014/main" id="{2A844983-2E3E-4DCE-C1D2-AFC8C847CCB1}"/>
              </a:ext>
            </a:extLst>
          </p:cNvPr>
          <p:cNvSpPr/>
          <p:nvPr/>
        </p:nvSpPr>
        <p:spPr>
          <a:xfrm>
            <a:off x="981075" y="1117979"/>
            <a:ext cx="16306800" cy="0"/>
          </a:xfrm>
          <a:prstGeom prst="line">
            <a:avLst/>
          </a:prstGeom>
          <a:ln w="19050" cap="flat">
            <a:solidFill>
              <a:srgbClr val="EFDCD2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754380"/>
            <a:ext cx="10972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kern="0" spc="450" dirty="0">
                <a:solidFill>
                  <a:srgbClr val="C48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0120" y="1234440"/>
            <a:ext cx="1440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100" b="1" dirty="0">
                <a:solidFill>
                  <a:srgbClr val="5C0E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60120" y="2948940"/>
            <a:ext cx="3840480" cy="5349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FDCD2"/>
            </a:solidFill>
            <a:prstDash val="solid"/>
          </a:ln>
          <a:effectLst>
            <a:outerShdw blurRad="101600" dist="38100" dir="5400000" algn="bl" rotWithShape="0">
              <a:srgbClr val="5C0E19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948940"/>
            <a:ext cx="3840480" cy="164592"/>
          </a:xfrm>
          <a:prstGeom prst="rect">
            <a:avLst/>
          </a:prstGeom>
          <a:solidFill>
            <a:srgbClr val="7A1220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3429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5C0E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34440" y="4114800"/>
            <a:ext cx="32918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kern="0" spc="225" dirty="0">
                <a:solidFill>
                  <a:srgbClr val="C48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MARKUP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4732020"/>
            <a:ext cx="3291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50"/>
              </a:lnSpc>
            </a:pPr>
            <a:r>
              <a:rPr lang="en-US" sz="1650" dirty="0">
                <a:solidFill>
                  <a:srgbClr val="5C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header, nav, and footer structure across every page.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102352" y="2948940"/>
            <a:ext cx="3840480" cy="5349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FDCD2"/>
            </a:solidFill>
            <a:prstDash val="solid"/>
          </a:ln>
          <a:effectLst>
            <a:outerShdw blurRad="101600" dist="38100" dir="5400000" algn="bl" rotWithShape="0">
              <a:srgbClr val="5C0E19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02352" y="2948940"/>
            <a:ext cx="3840480" cy="164592"/>
          </a:xfrm>
          <a:prstGeom prst="rect">
            <a:avLst/>
          </a:prstGeom>
          <a:solidFill>
            <a:srgbClr val="7A1220"/>
          </a:solidFill>
          <a:ln/>
        </p:spPr>
      </p:sp>
      <p:sp>
        <p:nvSpPr>
          <p:cNvPr id="11" name="Text 9"/>
          <p:cNvSpPr/>
          <p:nvPr/>
        </p:nvSpPr>
        <p:spPr>
          <a:xfrm>
            <a:off x="5376672" y="3429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5C0E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376672" y="4114800"/>
            <a:ext cx="32918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kern="0" spc="225" dirty="0">
                <a:solidFill>
                  <a:srgbClr val="C48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76672" y="4732020"/>
            <a:ext cx="3291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50"/>
              </a:lnSpc>
            </a:pPr>
            <a:r>
              <a:rPr lang="en-US" sz="1650" dirty="0">
                <a:solidFill>
                  <a:srgbClr val="5C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properties for color and theme; Flexbox and CSS Grid for layout.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244584" y="2948940"/>
            <a:ext cx="3840480" cy="5349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FDCD2"/>
            </a:solidFill>
            <a:prstDash val="solid"/>
          </a:ln>
          <a:effectLst>
            <a:outerShdw blurRad="101600" dist="38100" dir="5400000" algn="bl" rotWithShape="0">
              <a:srgbClr val="5C0E19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244584" y="2948940"/>
            <a:ext cx="3840480" cy="164592"/>
          </a:xfrm>
          <a:prstGeom prst="rect">
            <a:avLst/>
          </a:prstGeom>
          <a:solidFill>
            <a:srgbClr val="7A1220"/>
          </a:solidFill>
          <a:ln/>
        </p:spPr>
      </p:sp>
      <p:sp>
        <p:nvSpPr>
          <p:cNvPr id="16" name="Text 14"/>
          <p:cNvSpPr/>
          <p:nvPr/>
        </p:nvSpPr>
        <p:spPr>
          <a:xfrm>
            <a:off x="9518904" y="3429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5C0E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 JS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518904" y="4114800"/>
            <a:ext cx="32918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kern="0" spc="225" dirty="0">
                <a:solidFill>
                  <a:srgbClr val="C48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518904" y="4732020"/>
            <a:ext cx="3291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50"/>
              </a:lnSpc>
            </a:pPr>
            <a:r>
              <a:rPr lang="en-US" sz="1650" dirty="0">
                <a:solidFill>
                  <a:srgbClr val="5C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toggle, mobile menu, form validation, and auth-state simulation.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3386816" y="2948940"/>
            <a:ext cx="3840480" cy="5349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FDCD2"/>
            </a:solidFill>
            <a:prstDash val="solid"/>
          </a:ln>
          <a:effectLst>
            <a:outerShdw blurRad="101600" dist="38100" dir="5400000" algn="bl" rotWithShape="0">
              <a:srgbClr val="5C0E19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386816" y="2948940"/>
            <a:ext cx="3840480" cy="164592"/>
          </a:xfrm>
          <a:prstGeom prst="rect">
            <a:avLst/>
          </a:prstGeom>
          <a:solidFill>
            <a:srgbClr val="7A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13661136" y="3429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5C0E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3661136" y="4114800"/>
            <a:ext cx="32918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kern="0" spc="225" dirty="0">
                <a:solidFill>
                  <a:srgbClr val="C48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CSS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661136" y="4732020"/>
            <a:ext cx="3291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50"/>
              </a:lnSpc>
            </a:pPr>
            <a:r>
              <a:rPr lang="en-US" sz="1650" dirty="0">
                <a:solidFill>
                  <a:srgbClr val="5C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 tailored for mobile, tablet, and desktop viewports.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60120" y="8641080"/>
            <a:ext cx="1632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25" i="1" dirty="0">
                <a:solidFill>
                  <a:srgbClr val="5C4E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assets/style.css and assets/app.js keep every new page visually and behaviorally consistent with the original homepage.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17053103" y="9532620"/>
            <a:ext cx="8229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500" dirty="0">
                <a:solidFill>
                  <a:srgbClr val="C48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754380"/>
            <a:ext cx="10972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kern="0" spc="450" dirty="0">
                <a:solidFill>
                  <a:srgbClr val="C48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ARCHITECTURE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0120" y="1234440"/>
            <a:ext cx="1440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100" b="1" dirty="0">
                <a:solidFill>
                  <a:srgbClr val="5C0E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map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7406640" y="1303020"/>
            <a:ext cx="3429000" cy="960120"/>
          </a:xfrm>
          <a:prstGeom prst="roundRect">
            <a:avLst>
              <a:gd name="adj" fmla="val 11429"/>
            </a:avLst>
          </a:prstGeom>
          <a:solidFill>
            <a:srgbClr val="5C0E19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1303020"/>
            <a:ext cx="3429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21140" y="2263140"/>
            <a:ext cx="0" cy="685800"/>
          </a:xfrm>
          <a:prstGeom prst="line">
            <a:avLst/>
          </a:prstGeom>
          <a:noFill/>
          <a:ln w="19050">
            <a:solidFill>
              <a:srgbClr val="C487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20062" y="2948940"/>
            <a:ext cx="13647420" cy="0"/>
          </a:xfrm>
          <a:prstGeom prst="line">
            <a:avLst/>
          </a:prstGeom>
          <a:noFill/>
          <a:ln w="19050">
            <a:solidFill>
              <a:srgbClr val="C487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20062" y="2948940"/>
            <a:ext cx="0" cy="548640"/>
          </a:xfrm>
          <a:prstGeom prst="line">
            <a:avLst/>
          </a:prstGeom>
          <a:noFill/>
          <a:ln w="19050">
            <a:solidFill>
              <a:srgbClr val="C487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332" y="3497580"/>
            <a:ext cx="2537460" cy="116586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FDCD2"/>
            </a:solidFill>
            <a:prstDash val="solid"/>
          </a:ln>
          <a:effectLst>
            <a:outerShdw blurRad="76200" dist="25400" dir="5400000" algn="bl" rotWithShape="0">
              <a:srgbClr val="5C0E19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61060" y="3497580"/>
            <a:ext cx="2318004" cy="1165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b="1" dirty="0">
                <a:solidFill>
                  <a:srgbClr val="5C0E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Matches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049546" y="2948940"/>
            <a:ext cx="0" cy="548640"/>
          </a:xfrm>
          <a:prstGeom prst="line">
            <a:avLst/>
          </a:prstGeom>
          <a:noFill/>
          <a:ln w="19050">
            <a:solidFill>
              <a:srgbClr val="C487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80816" y="3497580"/>
            <a:ext cx="2537460" cy="116586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FDCD2"/>
            </a:solidFill>
            <a:prstDash val="solid"/>
          </a:ln>
          <a:effectLst>
            <a:outerShdw blurRad="76200" dist="25400" dir="5400000" algn="bl" rotWithShape="0">
              <a:srgbClr val="5C0E19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90544" y="3497580"/>
            <a:ext cx="2318004" cy="1165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b="1" dirty="0">
                <a:solidFill>
                  <a:srgbClr val="5C0E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Your Details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779030" y="2948940"/>
            <a:ext cx="0" cy="548640"/>
          </a:xfrm>
          <a:prstGeom prst="line">
            <a:avLst/>
          </a:prstGeom>
          <a:noFill/>
          <a:ln w="19050">
            <a:solidFill>
              <a:srgbClr val="C487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0300" y="3497580"/>
            <a:ext cx="2537460" cy="116586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FDCD2"/>
            </a:solidFill>
            <a:prstDash val="solid"/>
          </a:ln>
          <a:effectLst>
            <a:outerShdw blurRad="76200" dist="25400" dir="5400000" algn="bl" rotWithShape="0">
              <a:srgbClr val="5C0E19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20028" y="3497580"/>
            <a:ext cx="2318004" cy="1165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b="1" dirty="0">
                <a:solidFill>
                  <a:srgbClr val="5C0E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0508514" y="2948940"/>
            <a:ext cx="0" cy="548640"/>
          </a:xfrm>
          <a:prstGeom prst="line">
            <a:avLst/>
          </a:prstGeom>
          <a:noFill/>
          <a:ln w="19050">
            <a:solidFill>
              <a:srgbClr val="C487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39784" y="3497580"/>
            <a:ext cx="2537460" cy="116586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FDCD2"/>
            </a:solidFill>
            <a:prstDash val="solid"/>
          </a:ln>
          <a:effectLst>
            <a:outerShdw blurRad="76200" dist="25400" dir="5400000" algn="bl" rotWithShape="0">
              <a:srgbClr val="5C0E19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49512" y="3497580"/>
            <a:ext cx="2318004" cy="1165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b="1" dirty="0">
                <a:solidFill>
                  <a:srgbClr val="5C0E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237998" y="2948940"/>
            <a:ext cx="0" cy="548640"/>
          </a:xfrm>
          <a:prstGeom prst="line">
            <a:avLst/>
          </a:prstGeom>
          <a:noFill/>
          <a:ln w="19050">
            <a:solidFill>
              <a:srgbClr val="C487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969268" y="3497580"/>
            <a:ext cx="2537460" cy="116586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FDCD2"/>
            </a:solidFill>
            <a:prstDash val="solid"/>
          </a:ln>
          <a:effectLst>
            <a:outerShdw blurRad="76200" dist="25400" dir="5400000" algn="bl" rotWithShape="0">
              <a:srgbClr val="5C0E19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2078996" y="3497580"/>
            <a:ext cx="2318004" cy="1165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b="1" dirty="0">
                <a:solidFill>
                  <a:srgbClr val="5C0E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67482" y="2948940"/>
            <a:ext cx="0" cy="548640"/>
          </a:xfrm>
          <a:prstGeom prst="line">
            <a:avLst/>
          </a:prstGeom>
          <a:noFill/>
          <a:ln w="19050">
            <a:solidFill>
              <a:srgbClr val="C487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698752" y="3497580"/>
            <a:ext cx="2537460" cy="116586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FDCD2"/>
            </a:solidFill>
            <a:prstDash val="solid"/>
          </a:ln>
          <a:effectLst>
            <a:outerShdw blurRad="76200" dist="25400" dir="5400000" algn="bl" rotWithShape="0">
              <a:srgbClr val="5C0E19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4808480" y="3497580"/>
            <a:ext cx="2318004" cy="1165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b="1" dirty="0">
                <a:solidFill>
                  <a:srgbClr val="5C0E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/ Logout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028700" y="5486400"/>
            <a:ext cx="438912" cy="438912"/>
          </a:xfrm>
          <a:prstGeom prst="ellipse">
            <a:avLst/>
          </a:prstGeom>
          <a:solidFill>
            <a:srgbClr val="EFDCD2"/>
          </a:solidFill>
          <a:ln/>
        </p:spPr>
      </p:sp>
      <p:sp>
        <p:nvSpPr>
          <p:cNvPr id="27" name="Text 25"/>
          <p:cNvSpPr/>
          <p:nvPr/>
        </p:nvSpPr>
        <p:spPr>
          <a:xfrm>
            <a:off x="1028700" y="5486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48" b="1" dirty="0">
                <a:solidFill>
                  <a:srgbClr val="7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48" dirty="0"/>
          </a:p>
        </p:txBody>
      </p:sp>
      <p:sp>
        <p:nvSpPr>
          <p:cNvPr id="28" name="Text 26"/>
          <p:cNvSpPr/>
          <p:nvPr/>
        </p:nvSpPr>
        <p:spPr>
          <a:xfrm>
            <a:off x="1714500" y="5376672"/>
            <a:ext cx="1481328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75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shares the same fixed navigation bar, so all six destinations are always one click away.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28700" y="6446520"/>
            <a:ext cx="438912" cy="438912"/>
          </a:xfrm>
          <a:prstGeom prst="ellipse">
            <a:avLst/>
          </a:prstGeom>
          <a:solidFill>
            <a:srgbClr val="EFDCD2"/>
          </a:solidFill>
          <a:ln/>
        </p:spPr>
      </p:sp>
      <p:sp>
        <p:nvSpPr>
          <p:cNvPr id="30" name="Text 28"/>
          <p:cNvSpPr/>
          <p:nvPr/>
        </p:nvSpPr>
        <p:spPr>
          <a:xfrm>
            <a:off x="1028700" y="64465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48" b="1" dirty="0">
                <a:solidFill>
                  <a:srgbClr val="7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48" dirty="0"/>
          </a:p>
        </p:txBody>
      </p:sp>
      <p:sp>
        <p:nvSpPr>
          <p:cNvPr id="31" name="Text 29"/>
          <p:cNvSpPr/>
          <p:nvPr/>
        </p:nvSpPr>
        <p:spPr>
          <a:xfrm>
            <a:off x="1714500" y="6336792"/>
            <a:ext cx="1481328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75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/ Sign In swap for Logout automatically once a session is active — simulated via localStorage.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028700" y="7406640"/>
            <a:ext cx="438912" cy="438912"/>
          </a:xfrm>
          <a:prstGeom prst="ellipse">
            <a:avLst/>
          </a:prstGeom>
          <a:solidFill>
            <a:srgbClr val="EFDCD2"/>
          </a:solidFill>
          <a:ln/>
        </p:spPr>
      </p:sp>
      <p:sp>
        <p:nvSpPr>
          <p:cNvPr id="33" name="Text 31"/>
          <p:cNvSpPr/>
          <p:nvPr/>
        </p:nvSpPr>
        <p:spPr>
          <a:xfrm>
            <a:off x="1028700" y="74066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48" b="1" dirty="0">
                <a:solidFill>
                  <a:srgbClr val="7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48" dirty="0"/>
          </a:p>
        </p:txBody>
      </p:sp>
      <p:sp>
        <p:nvSpPr>
          <p:cNvPr id="34" name="Text 32"/>
          <p:cNvSpPr/>
          <p:nvPr/>
        </p:nvSpPr>
        <p:spPr>
          <a:xfrm>
            <a:off x="1714500" y="7296912"/>
            <a:ext cx="1481328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75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footer on every page mirrors the top navigation for quick access from anywhere on the site.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17053103" y="9532620"/>
            <a:ext cx="8229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500" dirty="0">
                <a:solidFill>
                  <a:srgbClr val="C48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extLst>
              <a:ext uri="{FF2B5EF4-FFF2-40B4-BE49-F238E27FC236}">
                <a16:creationId xmlns:a16="http://schemas.microsoft.com/office/drawing/2014/main" id="{FB39DBCD-A36F-E325-8EC9-8CA50ACBC287}"/>
              </a:ext>
            </a:extLst>
          </p:cNvPr>
          <p:cNvSpPr/>
          <p:nvPr/>
        </p:nvSpPr>
        <p:spPr>
          <a:xfrm>
            <a:off x="981075" y="1117979"/>
            <a:ext cx="16306800" cy="0"/>
          </a:xfrm>
          <a:prstGeom prst="line">
            <a:avLst/>
          </a:prstGeom>
          <a:ln w="19050" cap="flat">
            <a:solidFill>
              <a:srgbClr val="EFDC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D86A00D4-EBB9-8D91-B08B-C865109D88E4}"/>
              </a:ext>
            </a:extLst>
          </p:cNvPr>
          <p:cNvSpPr txBox="1"/>
          <p:nvPr/>
        </p:nvSpPr>
        <p:spPr>
          <a:xfrm>
            <a:off x="2038350" y="485775"/>
            <a:ext cx="11239500" cy="42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150" b="1" dirty="0">
                <a:solidFill>
                  <a:srgbClr val="5C0E19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Common CSS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203C0231-935F-99A2-EB4A-63EA8794267E}"/>
              </a:ext>
            </a:extLst>
          </p:cNvPr>
          <p:cNvSpPr txBox="1"/>
          <p:nvPr/>
        </p:nvSpPr>
        <p:spPr>
          <a:xfrm>
            <a:off x="990600" y="533400"/>
            <a:ext cx="95250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02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08972CBF-3F41-9FD3-C44E-6227A4FC119F}"/>
              </a:ext>
            </a:extLst>
          </p:cNvPr>
          <p:cNvSpPr txBox="1"/>
          <p:nvPr/>
        </p:nvSpPr>
        <p:spPr>
          <a:xfrm>
            <a:off x="14782800" y="466298"/>
            <a:ext cx="26193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FOREVERWALE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092FDD-68EB-760C-E7E1-698431E6B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43" y="1257300"/>
            <a:ext cx="5876925" cy="4876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A05FC9-4A76-3C83-30D0-B1F5FD955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270085"/>
            <a:ext cx="6858000" cy="47220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147237E-4145-37B5-2BA2-9A6FFE613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498" y="6387770"/>
            <a:ext cx="7010400" cy="36766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A419421-8CCC-15C1-FB7F-D2306CAA24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9650" y="6349670"/>
            <a:ext cx="683895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82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533400"/>
            <a:ext cx="95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43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11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38350" y="485775"/>
            <a:ext cx="11239500" cy="413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150" b="1">
                <a:solidFill>
                  <a:srgbClr val="5C0E19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Light &amp; Dark Mode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668500" y="533400"/>
            <a:ext cx="26193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243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FOREVERWALE</a:t>
            </a:r>
          </a:p>
        </p:txBody>
      </p:sp>
      <p:sp>
        <p:nvSpPr>
          <p:cNvPr id="5" name="AutoShape 5"/>
          <p:cNvSpPr/>
          <p:nvPr/>
        </p:nvSpPr>
        <p:spPr>
          <a:xfrm>
            <a:off x="990600" y="1066800"/>
            <a:ext cx="16306800" cy="0"/>
          </a:xfrm>
          <a:prstGeom prst="line">
            <a:avLst/>
          </a:prstGeom>
          <a:ln w="19050" cap="flat">
            <a:solidFill>
              <a:srgbClr val="EFDC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905000" y="9029700"/>
            <a:ext cx="8477250" cy="23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5"/>
              </a:lnSpc>
            </a:pPr>
            <a:r>
              <a:rPr lang="en-US" sz="1425" b="1" spc="256" dirty="0">
                <a:solidFill>
                  <a:srgbClr val="C48793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LIGHT  ↔  DARK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87250" y="2247900"/>
            <a:ext cx="4572000" cy="2347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dirty="0">
                <a:solidFill>
                  <a:srgbClr val="FFFDFB"/>
                </a:solidFill>
                <a:latin typeface="IBM Plex Mono"/>
                <a:ea typeface="IBM Plex Mono"/>
                <a:cs typeface="IBM Plex Mono"/>
                <a:sym typeface="IBM Plex Mono"/>
              </a:rPr>
              <a:t>:root[data-theme="dark"] {</a:t>
            </a:r>
          </a:p>
          <a:p>
            <a:pPr algn="l">
              <a:lnSpc>
                <a:spcPts val="2392"/>
              </a:lnSpc>
            </a:pPr>
            <a:r>
              <a:rPr lang="en-US" sz="1650" dirty="0">
                <a:solidFill>
                  <a:srgbClr val="FFFD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--red: #E36575;</a:t>
            </a:r>
          </a:p>
          <a:p>
            <a:pPr algn="l">
              <a:lnSpc>
                <a:spcPts val="2392"/>
              </a:lnSpc>
            </a:pPr>
            <a:r>
              <a:rPr lang="en-US" sz="1650" dirty="0">
                <a:solidFill>
                  <a:srgbClr val="FFFD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--red-deep: #F0AAB3;</a:t>
            </a:r>
          </a:p>
          <a:p>
            <a:pPr algn="l">
              <a:lnSpc>
                <a:spcPts val="2392"/>
              </a:lnSpc>
            </a:pPr>
            <a:r>
              <a:rPr lang="en-US" sz="1650" dirty="0">
                <a:solidFill>
                  <a:srgbClr val="FFFD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--rose: #D9A0AC;</a:t>
            </a:r>
          </a:p>
          <a:p>
            <a:pPr algn="l">
              <a:lnSpc>
                <a:spcPts val="2392"/>
              </a:lnSpc>
            </a:pPr>
            <a:r>
              <a:rPr lang="en-US" sz="1650" dirty="0">
                <a:solidFill>
                  <a:srgbClr val="FFFD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--white: #1B1417;</a:t>
            </a:r>
          </a:p>
          <a:p>
            <a:pPr algn="l">
              <a:lnSpc>
                <a:spcPts val="2392"/>
              </a:lnSpc>
            </a:pPr>
            <a:r>
              <a:rPr lang="en-US" sz="1650" dirty="0">
                <a:solidFill>
                  <a:srgbClr val="FFFD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--ink: #F3E9E5;</a:t>
            </a:r>
          </a:p>
          <a:p>
            <a:pPr algn="l">
              <a:lnSpc>
                <a:spcPts val="2392"/>
              </a:lnSpc>
            </a:pPr>
            <a:r>
              <a:rPr lang="en-US" sz="1650" dirty="0">
                <a:solidFill>
                  <a:srgbClr val="FFFD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--blush: #3A2A2E;</a:t>
            </a:r>
          </a:p>
          <a:p>
            <a:pPr algn="l">
              <a:lnSpc>
                <a:spcPts val="2392"/>
              </a:lnSpc>
            </a:pPr>
            <a:r>
              <a:rPr lang="en-US" sz="1650" dirty="0">
                <a:solidFill>
                  <a:srgbClr val="FFFDFB"/>
                </a:solidFill>
                <a:latin typeface="IBM Plex Mono"/>
                <a:ea typeface="IBM Plex Mono"/>
                <a:cs typeface="IBM Plex Mono"/>
                <a:sym typeface="IBM Plex Mono"/>
              </a:rPr>
              <a:t>}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B6FA49-AB94-9241-0D49-73166CDE2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1900" y="1666875"/>
            <a:ext cx="5905500" cy="72976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F6EA421-E840-2D06-FAB6-9D679F1D1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581505"/>
            <a:ext cx="10249371" cy="73409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alpha val="7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FA945F-4780-DF5F-CCE5-CF9FB3E1F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2AE4E60-E4B6-3104-E7D0-744929CBF6CA}"/>
              </a:ext>
            </a:extLst>
          </p:cNvPr>
          <p:cNvSpPr txBox="1"/>
          <p:nvPr/>
        </p:nvSpPr>
        <p:spPr>
          <a:xfrm>
            <a:off x="990600" y="533400"/>
            <a:ext cx="95250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03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89000EC-F74C-D882-9818-225FB4BB6048}"/>
              </a:ext>
            </a:extLst>
          </p:cNvPr>
          <p:cNvSpPr txBox="1"/>
          <p:nvPr/>
        </p:nvSpPr>
        <p:spPr>
          <a:xfrm>
            <a:off x="2038350" y="485775"/>
            <a:ext cx="11239500" cy="42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150" b="1" dirty="0">
                <a:solidFill>
                  <a:srgbClr val="5C0E19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Loading UI 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5BDC9A5-54FC-0DFD-FADD-BC5C54FB8260}"/>
              </a:ext>
            </a:extLst>
          </p:cNvPr>
          <p:cNvSpPr txBox="1"/>
          <p:nvPr/>
        </p:nvSpPr>
        <p:spPr>
          <a:xfrm>
            <a:off x="14668500" y="533400"/>
            <a:ext cx="26193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243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FOREVERWALE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50E2446-9964-6CAF-F6A0-4C9031C080DF}"/>
              </a:ext>
            </a:extLst>
          </p:cNvPr>
          <p:cNvSpPr/>
          <p:nvPr/>
        </p:nvSpPr>
        <p:spPr>
          <a:xfrm>
            <a:off x="990600" y="1066800"/>
            <a:ext cx="16306800" cy="0"/>
          </a:xfrm>
          <a:prstGeom prst="line">
            <a:avLst/>
          </a:prstGeom>
          <a:ln w="19050" cap="flat">
            <a:solidFill>
              <a:srgbClr val="EFDCD2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8CD1EA9-58CC-1E71-7F06-027284004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632373"/>
            <a:ext cx="9753599" cy="806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50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4AA60-82BD-E6ED-5BB2-8146A67D3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C552E2F-8FF5-04D3-785A-74E527296B64}"/>
              </a:ext>
            </a:extLst>
          </p:cNvPr>
          <p:cNvSpPr txBox="1"/>
          <p:nvPr/>
        </p:nvSpPr>
        <p:spPr>
          <a:xfrm>
            <a:off x="990600" y="533400"/>
            <a:ext cx="95250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03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28B223F-851E-4D7E-B3CE-5551BF3F7DDD}"/>
              </a:ext>
            </a:extLst>
          </p:cNvPr>
          <p:cNvSpPr txBox="1"/>
          <p:nvPr/>
        </p:nvSpPr>
        <p:spPr>
          <a:xfrm>
            <a:off x="2038350" y="485775"/>
            <a:ext cx="11239500" cy="42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150" b="1" dirty="0">
                <a:solidFill>
                  <a:srgbClr val="5C0E19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Loading UI JS 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DC22A98-5921-5411-47A2-23C9CC259152}"/>
              </a:ext>
            </a:extLst>
          </p:cNvPr>
          <p:cNvSpPr txBox="1"/>
          <p:nvPr/>
        </p:nvSpPr>
        <p:spPr>
          <a:xfrm>
            <a:off x="14668500" y="533400"/>
            <a:ext cx="26193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243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FOREVERWALE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2E207B8B-E66A-63AD-5D80-6BDDB7A9DFE6}"/>
              </a:ext>
            </a:extLst>
          </p:cNvPr>
          <p:cNvSpPr/>
          <p:nvPr/>
        </p:nvSpPr>
        <p:spPr>
          <a:xfrm>
            <a:off x="990600" y="1066800"/>
            <a:ext cx="16306800" cy="0"/>
          </a:xfrm>
          <a:prstGeom prst="line">
            <a:avLst/>
          </a:prstGeom>
          <a:ln w="19050" cap="flat">
            <a:solidFill>
              <a:srgbClr val="EFDCD2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CF1DC4-5450-3321-951E-5C54B55D4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409700"/>
            <a:ext cx="8991600" cy="837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33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026F6D-8DDC-67A5-256F-08C085F9B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9A847E5-8BDC-68B9-24A3-9F2D19F34E4B}"/>
              </a:ext>
            </a:extLst>
          </p:cNvPr>
          <p:cNvSpPr txBox="1"/>
          <p:nvPr/>
        </p:nvSpPr>
        <p:spPr>
          <a:xfrm>
            <a:off x="990600" y="533400"/>
            <a:ext cx="95250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08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39D76B2-ED14-6C6E-E2D2-37810B4E9135}"/>
              </a:ext>
            </a:extLst>
          </p:cNvPr>
          <p:cNvSpPr txBox="1"/>
          <p:nvPr/>
        </p:nvSpPr>
        <p:spPr>
          <a:xfrm>
            <a:off x="2038350" y="485775"/>
            <a:ext cx="11239500" cy="42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150" b="1" dirty="0">
                <a:solidFill>
                  <a:srgbClr val="5C0E19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Sign UP  AND Sign IN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CAEA17D-5E47-8434-CDB6-AD47DC3AFCD0}"/>
              </a:ext>
            </a:extLst>
          </p:cNvPr>
          <p:cNvSpPr txBox="1"/>
          <p:nvPr/>
        </p:nvSpPr>
        <p:spPr>
          <a:xfrm>
            <a:off x="14668500" y="533400"/>
            <a:ext cx="26193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243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FOREVERWALE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323A7A4A-2DE9-DBCE-0503-61B1F98AF5EE}"/>
              </a:ext>
            </a:extLst>
          </p:cNvPr>
          <p:cNvSpPr/>
          <p:nvPr/>
        </p:nvSpPr>
        <p:spPr>
          <a:xfrm>
            <a:off x="990600" y="1066800"/>
            <a:ext cx="16306800" cy="0"/>
          </a:xfrm>
          <a:prstGeom prst="line">
            <a:avLst/>
          </a:prstGeom>
          <a:ln w="19050" cap="flat">
            <a:solidFill>
              <a:srgbClr val="EFDCD2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CF306C-20CF-F9FE-53E3-74D223B33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191" y="1104900"/>
            <a:ext cx="5628409" cy="84426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B51D64-3E41-7BF7-4F65-FDFB5F367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1104900"/>
            <a:ext cx="6400800" cy="844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190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D28A1-7E03-F816-E52E-5CF5219CF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4EC6BAB-4BB2-C88B-A22B-5407EDABEFF6}"/>
              </a:ext>
            </a:extLst>
          </p:cNvPr>
          <p:cNvSpPr txBox="1"/>
          <p:nvPr/>
        </p:nvSpPr>
        <p:spPr>
          <a:xfrm>
            <a:off x="990600" y="533400"/>
            <a:ext cx="95250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08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D5147B2-A81C-520D-7E76-13FB506934EA}"/>
              </a:ext>
            </a:extLst>
          </p:cNvPr>
          <p:cNvSpPr txBox="1"/>
          <p:nvPr/>
        </p:nvSpPr>
        <p:spPr>
          <a:xfrm>
            <a:off x="2038350" y="485775"/>
            <a:ext cx="11239500" cy="42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150" b="1" dirty="0">
                <a:solidFill>
                  <a:srgbClr val="5C0E19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Sign UP  AND Sign IN JS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744EE41-0C4D-4ED4-6D2B-48B6CBD25F94}"/>
              </a:ext>
            </a:extLst>
          </p:cNvPr>
          <p:cNvSpPr txBox="1"/>
          <p:nvPr/>
        </p:nvSpPr>
        <p:spPr>
          <a:xfrm>
            <a:off x="14668500" y="533400"/>
            <a:ext cx="26193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243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FOREVERWALE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35379F0-9F9C-6FB1-8784-31FCD7487925}"/>
              </a:ext>
            </a:extLst>
          </p:cNvPr>
          <p:cNvSpPr/>
          <p:nvPr/>
        </p:nvSpPr>
        <p:spPr>
          <a:xfrm>
            <a:off x="990600" y="1066800"/>
            <a:ext cx="16306800" cy="0"/>
          </a:xfrm>
          <a:prstGeom prst="line">
            <a:avLst/>
          </a:prstGeom>
          <a:ln w="19050" cap="flat">
            <a:solidFill>
              <a:srgbClr val="EFDCD2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8346F1-5D1C-9976-B9C9-0F912C3DD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253" y="1332319"/>
            <a:ext cx="7144747" cy="84593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2E1D12-685C-FFA6-E7E2-9DCE90DF2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33500"/>
            <a:ext cx="7010400" cy="833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948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533400"/>
            <a:ext cx="95250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38350" y="485775"/>
            <a:ext cx="11239500" cy="413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150" b="1" dirty="0">
                <a:solidFill>
                  <a:srgbClr val="5C0E19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Homepage UI Breakdown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668500" y="533400"/>
            <a:ext cx="26193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243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FOREVERWALE</a:t>
            </a:r>
          </a:p>
        </p:txBody>
      </p:sp>
      <p:sp>
        <p:nvSpPr>
          <p:cNvPr id="5" name="AutoShape 5"/>
          <p:cNvSpPr/>
          <p:nvPr/>
        </p:nvSpPr>
        <p:spPr>
          <a:xfrm>
            <a:off x="990600" y="1066800"/>
            <a:ext cx="16306800" cy="0"/>
          </a:xfrm>
          <a:prstGeom prst="line">
            <a:avLst/>
          </a:prstGeom>
          <a:ln w="19050" cap="flat">
            <a:solidFill>
              <a:srgbClr val="EFDCD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143000" y="1952625"/>
            <a:ext cx="2667000" cy="495300"/>
            <a:chOff x="0" y="0"/>
            <a:chExt cx="3556000" cy="6604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3556000" cy="660400"/>
              <a:chOff x="0" y="0"/>
              <a:chExt cx="3556000" cy="660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556000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3556000" h="660400">
                    <a:moveTo>
                      <a:pt x="117929" y="0"/>
                    </a:moveTo>
                    <a:lnTo>
                      <a:pt x="3438072" y="0"/>
                    </a:lnTo>
                    <a:cubicBezTo>
                      <a:pt x="3503202" y="0"/>
                      <a:pt x="3556000" y="52798"/>
                      <a:pt x="3556000" y="117929"/>
                    </a:cubicBezTo>
                    <a:lnTo>
                      <a:pt x="3556000" y="542471"/>
                    </a:lnTo>
                    <a:cubicBezTo>
                      <a:pt x="3556000" y="607602"/>
                      <a:pt x="3503202" y="660400"/>
                      <a:pt x="3438072" y="660400"/>
                    </a:cubicBezTo>
                    <a:lnTo>
                      <a:pt x="117929" y="660400"/>
                    </a:lnTo>
                    <a:cubicBezTo>
                      <a:pt x="52798" y="660400"/>
                      <a:pt x="0" y="607602"/>
                      <a:pt x="0" y="542471"/>
                    </a:cubicBezTo>
                    <a:lnTo>
                      <a:pt x="0" y="117929"/>
                    </a:lnTo>
                    <a:cubicBezTo>
                      <a:pt x="0" y="52798"/>
                      <a:pt x="52798" y="0"/>
                      <a:pt x="117929" y="0"/>
                    </a:cubicBezTo>
                    <a:close/>
                  </a:path>
                </a:pathLst>
              </a:custGeom>
              <a:solidFill>
                <a:srgbClr val="FFFDFB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228600" y="146050"/>
              <a:ext cx="3098800" cy="28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2"/>
                </a:lnSpc>
              </a:pPr>
              <a:r>
                <a:rPr lang="en-US" sz="1350" b="1">
                  <a:solidFill>
                    <a:srgbClr val="7A1220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Navigation + logo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3810000" y="2200275"/>
            <a:ext cx="95250" cy="0"/>
          </a:xfrm>
          <a:prstGeom prst="line">
            <a:avLst/>
          </a:prstGeom>
          <a:ln w="19050" cap="rnd">
            <a:solidFill>
              <a:srgbClr val="C4879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4620875" y="2095500"/>
            <a:ext cx="2667000" cy="495300"/>
            <a:chOff x="0" y="0"/>
            <a:chExt cx="3556000" cy="6604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3556000" cy="660400"/>
              <a:chOff x="0" y="0"/>
              <a:chExt cx="3556000" cy="6604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556000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3556000" h="660400">
                    <a:moveTo>
                      <a:pt x="117929" y="0"/>
                    </a:moveTo>
                    <a:lnTo>
                      <a:pt x="3438072" y="0"/>
                    </a:lnTo>
                    <a:cubicBezTo>
                      <a:pt x="3503202" y="0"/>
                      <a:pt x="3556000" y="52798"/>
                      <a:pt x="3556000" y="117929"/>
                    </a:cubicBezTo>
                    <a:lnTo>
                      <a:pt x="3556000" y="542471"/>
                    </a:lnTo>
                    <a:cubicBezTo>
                      <a:pt x="3556000" y="607602"/>
                      <a:pt x="3503202" y="660400"/>
                      <a:pt x="3438072" y="660400"/>
                    </a:cubicBezTo>
                    <a:lnTo>
                      <a:pt x="117929" y="660400"/>
                    </a:lnTo>
                    <a:cubicBezTo>
                      <a:pt x="52798" y="660400"/>
                      <a:pt x="0" y="607602"/>
                      <a:pt x="0" y="542471"/>
                    </a:cubicBezTo>
                    <a:lnTo>
                      <a:pt x="0" y="117929"/>
                    </a:lnTo>
                    <a:cubicBezTo>
                      <a:pt x="0" y="52798"/>
                      <a:pt x="52798" y="0"/>
                      <a:pt x="117929" y="0"/>
                    </a:cubicBezTo>
                    <a:close/>
                  </a:path>
                </a:pathLst>
              </a:custGeom>
              <a:solidFill>
                <a:srgbClr val="5C0E19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228600" y="146050"/>
              <a:ext cx="3098800" cy="28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2"/>
                </a:lnSpc>
              </a:pPr>
              <a:r>
                <a:rPr lang="en-US" sz="1350" b="1">
                  <a:solidFill>
                    <a:srgbClr val="FFFDFB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Theme + sign up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 flipH="1">
            <a:off x="14382750" y="2343150"/>
            <a:ext cx="238125" cy="0"/>
          </a:xfrm>
          <a:prstGeom prst="line">
            <a:avLst/>
          </a:prstGeom>
          <a:ln w="19050" cap="rnd">
            <a:solidFill>
              <a:srgbClr val="C4879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1047750" y="4333875"/>
            <a:ext cx="2667000" cy="495300"/>
            <a:chOff x="0" y="0"/>
            <a:chExt cx="3556000" cy="6604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3556000" cy="660400"/>
              <a:chOff x="0" y="0"/>
              <a:chExt cx="3556000" cy="6604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3556000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3556000" h="660400">
                    <a:moveTo>
                      <a:pt x="117929" y="0"/>
                    </a:moveTo>
                    <a:lnTo>
                      <a:pt x="3438072" y="0"/>
                    </a:lnTo>
                    <a:cubicBezTo>
                      <a:pt x="3503202" y="0"/>
                      <a:pt x="3556000" y="52798"/>
                      <a:pt x="3556000" y="117929"/>
                    </a:cubicBezTo>
                    <a:lnTo>
                      <a:pt x="3556000" y="542471"/>
                    </a:lnTo>
                    <a:cubicBezTo>
                      <a:pt x="3556000" y="607602"/>
                      <a:pt x="3503202" y="660400"/>
                      <a:pt x="3438072" y="660400"/>
                    </a:cubicBezTo>
                    <a:lnTo>
                      <a:pt x="117929" y="660400"/>
                    </a:lnTo>
                    <a:cubicBezTo>
                      <a:pt x="52798" y="660400"/>
                      <a:pt x="0" y="607602"/>
                      <a:pt x="0" y="542471"/>
                    </a:cubicBezTo>
                    <a:lnTo>
                      <a:pt x="0" y="117929"/>
                    </a:lnTo>
                    <a:cubicBezTo>
                      <a:pt x="0" y="52798"/>
                      <a:pt x="52798" y="0"/>
                      <a:pt x="117929" y="0"/>
                    </a:cubicBezTo>
                    <a:close/>
                  </a:path>
                </a:pathLst>
              </a:custGeom>
              <a:solidFill>
                <a:srgbClr val="FFFDFB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228600" y="146050"/>
              <a:ext cx="3098800" cy="28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2"/>
                </a:lnSpc>
              </a:pPr>
              <a:r>
                <a:rPr lang="en-US" sz="1350" b="1">
                  <a:solidFill>
                    <a:srgbClr val="7A1220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Hero + primary CTA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3714750" y="4581525"/>
            <a:ext cx="190500" cy="0"/>
          </a:xfrm>
          <a:prstGeom prst="line">
            <a:avLst/>
          </a:prstGeom>
          <a:ln w="19050" cap="rnd">
            <a:solidFill>
              <a:srgbClr val="C4879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14573250" y="5619750"/>
            <a:ext cx="2667000" cy="495300"/>
            <a:chOff x="0" y="0"/>
            <a:chExt cx="3556000" cy="6604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3556000" cy="660400"/>
              <a:chOff x="0" y="0"/>
              <a:chExt cx="3556000" cy="6604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3556000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3556000" h="660400">
                    <a:moveTo>
                      <a:pt x="117929" y="0"/>
                    </a:moveTo>
                    <a:lnTo>
                      <a:pt x="3438072" y="0"/>
                    </a:lnTo>
                    <a:cubicBezTo>
                      <a:pt x="3503202" y="0"/>
                      <a:pt x="3556000" y="52798"/>
                      <a:pt x="3556000" y="117929"/>
                    </a:cubicBezTo>
                    <a:lnTo>
                      <a:pt x="3556000" y="542471"/>
                    </a:lnTo>
                    <a:cubicBezTo>
                      <a:pt x="3556000" y="607602"/>
                      <a:pt x="3503202" y="660400"/>
                      <a:pt x="3438072" y="660400"/>
                    </a:cubicBezTo>
                    <a:lnTo>
                      <a:pt x="117929" y="660400"/>
                    </a:lnTo>
                    <a:cubicBezTo>
                      <a:pt x="52798" y="660400"/>
                      <a:pt x="0" y="607602"/>
                      <a:pt x="0" y="542471"/>
                    </a:cubicBezTo>
                    <a:lnTo>
                      <a:pt x="0" y="117929"/>
                    </a:lnTo>
                    <a:cubicBezTo>
                      <a:pt x="0" y="52798"/>
                      <a:pt x="52798" y="0"/>
                      <a:pt x="117929" y="0"/>
                    </a:cubicBezTo>
                    <a:close/>
                  </a:path>
                </a:pathLst>
              </a:custGeom>
              <a:solidFill>
                <a:srgbClr val="5C0E19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228600" y="146050"/>
              <a:ext cx="3098800" cy="28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2"/>
                </a:lnSpc>
              </a:pPr>
              <a:r>
                <a:rPr lang="en-US" sz="1350" b="1">
                  <a:solidFill>
                    <a:srgbClr val="FFFDFB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Matching filters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 flipH="1">
            <a:off x="14382750" y="5867400"/>
            <a:ext cx="190500" cy="0"/>
          </a:xfrm>
          <a:prstGeom prst="line">
            <a:avLst/>
          </a:prstGeom>
          <a:ln w="19050" cap="rnd">
            <a:solidFill>
              <a:srgbClr val="C4879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7" name="Group 27"/>
          <p:cNvGrpSpPr/>
          <p:nvPr/>
        </p:nvGrpSpPr>
        <p:grpSpPr>
          <a:xfrm>
            <a:off x="1047750" y="7239000"/>
            <a:ext cx="2667000" cy="495300"/>
            <a:chOff x="0" y="0"/>
            <a:chExt cx="3556000" cy="66040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3556000" cy="660400"/>
              <a:chOff x="0" y="0"/>
              <a:chExt cx="3556000" cy="6604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556000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3556000" h="660400">
                    <a:moveTo>
                      <a:pt x="117929" y="0"/>
                    </a:moveTo>
                    <a:lnTo>
                      <a:pt x="3438072" y="0"/>
                    </a:lnTo>
                    <a:cubicBezTo>
                      <a:pt x="3503202" y="0"/>
                      <a:pt x="3556000" y="52798"/>
                      <a:pt x="3556000" y="117929"/>
                    </a:cubicBezTo>
                    <a:lnTo>
                      <a:pt x="3556000" y="542471"/>
                    </a:lnTo>
                    <a:cubicBezTo>
                      <a:pt x="3556000" y="607602"/>
                      <a:pt x="3503202" y="660400"/>
                      <a:pt x="3438072" y="660400"/>
                    </a:cubicBezTo>
                    <a:lnTo>
                      <a:pt x="117929" y="660400"/>
                    </a:lnTo>
                    <a:cubicBezTo>
                      <a:pt x="52798" y="660400"/>
                      <a:pt x="0" y="607602"/>
                      <a:pt x="0" y="542471"/>
                    </a:cubicBezTo>
                    <a:lnTo>
                      <a:pt x="0" y="117929"/>
                    </a:lnTo>
                    <a:cubicBezTo>
                      <a:pt x="0" y="52798"/>
                      <a:pt x="52798" y="0"/>
                      <a:pt x="117929" y="0"/>
                    </a:cubicBezTo>
                    <a:close/>
                  </a:path>
                </a:pathLst>
              </a:custGeom>
              <a:solidFill>
                <a:srgbClr val="FFFDFB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228600" y="146050"/>
              <a:ext cx="3098800" cy="28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2"/>
                </a:lnSpc>
              </a:pPr>
              <a:r>
                <a:rPr lang="en-US" sz="1350" b="1">
                  <a:solidFill>
                    <a:srgbClr val="7A1220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Content sections</a:t>
              </a:r>
            </a:p>
          </p:txBody>
        </p:sp>
      </p:grpSp>
      <p:sp>
        <p:nvSpPr>
          <p:cNvPr id="31" name="AutoShape 31"/>
          <p:cNvSpPr/>
          <p:nvPr/>
        </p:nvSpPr>
        <p:spPr>
          <a:xfrm>
            <a:off x="3714750" y="7486650"/>
            <a:ext cx="190500" cy="0"/>
          </a:xfrm>
          <a:prstGeom prst="line">
            <a:avLst/>
          </a:prstGeom>
          <a:ln w="19050" cap="rnd">
            <a:solidFill>
              <a:srgbClr val="C4879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2" name="Group 32"/>
          <p:cNvGrpSpPr/>
          <p:nvPr/>
        </p:nvGrpSpPr>
        <p:grpSpPr>
          <a:xfrm>
            <a:off x="14573250" y="8096250"/>
            <a:ext cx="2667000" cy="495300"/>
            <a:chOff x="0" y="0"/>
            <a:chExt cx="3556000" cy="66040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3556000" cy="660400"/>
              <a:chOff x="0" y="0"/>
              <a:chExt cx="3556000" cy="6604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3556000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3556000" h="660400">
                    <a:moveTo>
                      <a:pt x="117929" y="0"/>
                    </a:moveTo>
                    <a:lnTo>
                      <a:pt x="3438072" y="0"/>
                    </a:lnTo>
                    <a:cubicBezTo>
                      <a:pt x="3503202" y="0"/>
                      <a:pt x="3556000" y="52798"/>
                      <a:pt x="3556000" y="117929"/>
                    </a:cubicBezTo>
                    <a:lnTo>
                      <a:pt x="3556000" y="542471"/>
                    </a:lnTo>
                    <a:cubicBezTo>
                      <a:pt x="3556000" y="607602"/>
                      <a:pt x="3503202" y="660400"/>
                      <a:pt x="3438072" y="660400"/>
                    </a:cubicBezTo>
                    <a:lnTo>
                      <a:pt x="117929" y="660400"/>
                    </a:lnTo>
                    <a:cubicBezTo>
                      <a:pt x="52798" y="660400"/>
                      <a:pt x="0" y="607602"/>
                      <a:pt x="0" y="542471"/>
                    </a:cubicBezTo>
                    <a:lnTo>
                      <a:pt x="0" y="117929"/>
                    </a:lnTo>
                    <a:cubicBezTo>
                      <a:pt x="0" y="52798"/>
                      <a:pt x="52798" y="0"/>
                      <a:pt x="117929" y="0"/>
                    </a:cubicBezTo>
                    <a:close/>
                  </a:path>
                </a:pathLst>
              </a:custGeom>
              <a:solidFill>
                <a:srgbClr val="5C0E19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228600" y="146050"/>
              <a:ext cx="3098800" cy="28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2"/>
                </a:lnSpc>
              </a:pPr>
              <a:r>
                <a:rPr lang="en-US" sz="1350" b="1">
                  <a:solidFill>
                    <a:srgbClr val="FFFDFB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Footer</a:t>
              </a:r>
            </a:p>
          </p:txBody>
        </p:sp>
      </p:grpSp>
      <p:sp>
        <p:nvSpPr>
          <p:cNvPr id="36" name="AutoShape 36"/>
          <p:cNvSpPr/>
          <p:nvPr/>
        </p:nvSpPr>
        <p:spPr>
          <a:xfrm flipH="1">
            <a:off x="14382750" y="8343900"/>
            <a:ext cx="190500" cy="0"/>
          </a:xfrm>
          <a:prstGeom prst="line">
            <a:avLst/>
          </a:prstGeom>
          <a:ln w="19050" cap="rnd">
            <a:solidFill>
              <a:srgbClr val="C4879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TextBox 37"/>
          <p:cNvSpPr txBox="1"/>
          <p:nvPr/>
        </p:nvSpPr>
        <p:spPr>
          <a:xfrm>
            <a:off x="5048250" y="8924925"/>
            <a:ext cx="8191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>
                <a:solidFill>
                  <a:srgbClr val="7A1220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A clear path from emotional introduction → search → proof → action.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6987CED-877D-7B28-0D21-3901D92D5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873" y="1234441"/>
            <a:ext cx="10429877" cy="73571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8E83C-0ADA-A4D5-A93C-411B7B53D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67EE8A5-B9F6-E836-FCB0-6CA5F29B3FF2}"/>
              </a:ext>
            </a:extLst>
          </p:cNvPr>
          <p:cNvSpPr txBox="1"/>
          <p:nvPr/>
        </p:nvSpPr>
        <p:spPr>
          <a:xfrm>
            <a:off x="990600" y="533400"/>
            <a:ext cx="95250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03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88E2BD3-2E83-2F7B-FAB0-958143FCA12C}"/>
              </a:ext>
            </a:extLst>
          </p:cNvPr>
          <p:cNvSpPr txBox="1"/>
          <p:nvPr/>
        </p:nvSpPr>
        <p:spPr>
          <a:xfrm>
            <a:off x="2038350" y="485775"/>
            <a:ext cx="11239500" cy="42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150" b="1" dirty="0">
                <a:solidFill>
                  <a:srgbClr val="5C0E19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Homepage UI JS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59C0632-1A11-252E-12D2-5322248EA3A4}"/>
              </a:ext>
            </a:extLst>
          </p:cNvPr>
          <p:cNvSpPr txBox="1"/>
          <p:nvPr/>
        </p:nvSpPr>
        <p:spPr>
          <a:xfrm>
            <a:off x="14668500" y="533400"/>
            <a:ext cx="26193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243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FOREVERWALE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26B8E5B1-A394-287F-664E-E985CFAECCA4}"/>
              </a:ext>
            </a:extLst>
          </p:cNvPr>
          <p:cNvSpPr/>
          <p:nvPr/>
        </p:nvSpPr>
        <p:spPr>
          <a:xfrm>
            <a:off x="990600" y="1066800"/>
            <a:ext cx="16306800" cy="0"/>
          </a:xfrm>
          <a:prstGeom prst="line">
            <a:avLst/>
          </a:prstGeom>
          <a:ln w="19050" cap="flat">
            <a:solidFill>
              <a:srgbClr val="EFDCD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77775E8E-58CB-A8A0-BB39-F65D8ABB5000}"/>
              </a:ext>
            </a:extLst>
          </p:cNvPr>
          <p:cNvGrpSpPr/>
          <p:nvPr/>
        </p:nvGrpSpPr>
        <p:grpSpPr>
          <a:xfrm>
            <a:off x="1143000" y="1952625"/>
            <a:ext cx="2667000" cy="495300"/>
            <a:chOff x="0" y="0"/>
            <a:chExt cx="3556000" cy="6604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975E255-89B1-45B0-A6EE-AF2064F7EBD1}"/>
                </a:ext>
              </a:extLst>
            </p:cNvPr>
            <p:cNvSpPr/>
            <p:nvPr/>
          </p:nvSpPr>
          <p:spPr>
            <a:xfrm>
              <a:off x="0" y="0"/>
              <a:ext cx="3556000" cy="660400"/>
            </a:xfrm>
            <a:custGeom>
              <a:avLst/>
              <a:gdLst/>
              <a:ahLst/>
              <a:cxnLst/>
              <a:rect l="l" t="t" r="r" b="b"/>
              <a:pathLst>
                <a:path w="3556000" h="660400">
                  <a:moveTo>
                    <a:pt x="117929" y="0"/>
                  </a:moveTo>
                  <a:lnTo>
                    <a:pt x="3438072" y="0"/>
                  </a:lnTo>
                  <a:cubicBezTo>
                    <a:pt x="3503202" y="0"/>
                    <a:pt x="3556000" y="52798"/>
                    <a:pt x="3556000" y="117929"/>
                  </a:cubicBezTo>
                  <a:lnTo>
                    <a:pt x="3556000" y="542471"/>
                  </a:lnTo>
                  <a:cubicBezTo>
                    <a:pt x="3556000" y="607602"/>
                    <a:pt x="3503202" y="660400"/>
                    <a:pt x="3438072" y="660400"/>
                  </a:cubicBezTo>
                  <a:lnTo>
                    <a:pt x="117929" y="660400"/>
                  </a:lnTo>
                  <a:cubicBezTo>
                    <a:pt x="52798" y="660400"/>
                    <a:pt x="0" y="607602"/>
                    <a:pt x="0" y="542471"/>
                  </a:cubicBezTo>
                  <a:lnTo>
                    <a:pt x="0" y="117929"/>
                  </a:lnTo>
                  <a:cubicBezTo>
                    <a:pt x="0" y="52798"/>
                    <a:pt x="52798" y="0"/>
                    <a:pt x="117929" y="0"/>
                  </a:cubicBezTo>
                  <a:close/>
                </a:path>
              </a:pathLst>
            </a:custGeom>
            <a:solidFill>
              <a:srgbClr val="FFFDFB"/>
            </a:solidFill>
            <a:ln cap="rnd">
              <a:noFill/>
              <a:prstDash val="solid"/>
              <a:round/>
            </a:ln>
          </p:spPr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980BEF3C-FBF1-7754-E550-D2FFA07AE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562099"/>
            <a:ext cx="10972800" cy="792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19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533400"/>
            <a:ext cx="95250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07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38350" y="485775"/>
            <a:ext cx="11239500" cy="42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50"/>
              </a:lnSpc>
            </a:pPr>
            <a:r>
              <a:rPr lang="en-US" sz="3150" b="1" dirty="0">
                <a:solidFill>
                  <a:srgbClr val="5C0E19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Responsive Design of Homepage UI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668500" y="533400"/>
            <a:ext cx="26193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FOREVERWALE</a:t>
            </a:r>
          </a:p>
        </p:txBody>
      </p:sp>
      <p:sp>
        <p:nvSpPr>
          <p:cNvPr id="5" name="AutoShape 5"/>
          <p:cNvSpPr/>
          <p:nvPr/>
        </p:nvSpPr>
        <p:spPr>
          <a:xfrm>
            <a:off x="990600" y="1066800"/>
            <a:ext cx="16306800" cy="0"/>
          </a:xfrm>
          <a:prstGeom prst="line">
            <a:avLst/>
          </a:prstGeom>
          <a:ln w="19050" cap="flat">
            <a:solidFill>
              <a:srgbClr val="EFDCD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990600" y="1619250"/>
            <a:ext cx="6667500" cy="6572250"/>
            <a:chOff x="0" y="0"/>
            <a:chExt cx="8890000" cy="876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90000" cy="8763000"/>
            </a:xfrm>
            <a:custGeom>
              <a:avLst/>
              <a:gdLst/>
              <a:ahLst/>
              <a:cxnLst/>
              <a:rect l="l" t="t" r="r" b="b"/>
              <a:pathLst>
                <a:path w="8890000" h="8763000">
                  <a:moveTo>
                    <a:pt x="50800" y="0"/>
                  </a:moveTo>
                  <a:lnTo>
                    <a:pt x="8839200" y="0"/>
                  </a:lnTo>
                  <a:cubicBezTo>
                    <a:pt x="8867256" y="0"/>
                    <a:pt x="8890000" y="22744"/>
                    <a:pt x="8890000" y="50800"/>
                  </a:cubicBezTo>
                  <a:lnTo>
                    <a:pt x="8890000" y="8712200"/>
                  </a:lnTo>
                  <a:cubicBezTo>
                    <a:pt x="8890000" y="8740256"/>
                    <a:pt x="8867256" y="8763000"/>
                    <a:pt x="8839200" y="8763000"/>
                  </a:cubicBezTo>
                  <a:lnTo>
                    <a:pt x="50800" y="8763000"/>
                  </a:lnTo>
                  <a:cubicBezTo>
                    <a:pt x="22744" y="8763000"/>
                    <a:pt x="0" y="8740256"/>
                    <a:pt x="0" y="8712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5C0E19"/>
            </a:solidFill>
            <a:ln cap="rnd">
              <a:noFill/>
              <a:prstDash val="solid"/>
              <a:round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476375" y="2143125"/>
            <a:ext cx="5715000" cy="2507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725">
                <a:solidFill>
                  <a:srgbClr val="FFFDFB"/>
                </a:solidFill>
                <a:latin typeface="IBM Plex Mono"/>
                <a:ea typeface="IBM Plex Mono"/>
                <a:cs typeface="IBM Plex Mono"/>
                <a:sym typeface="IBM Plex Mono"/>
              </a:rPr>
              <a:t>@media (max-width: 880px) {</a:t>
            </a:r>
          </a:p>
          <a:p>
            <a:pPr algn="l">
              <a:lnSpc>
                <a:spcPts val="2501"/>
              </a:lnSpc>
            </a:pPr>
            <a:r>
              <a:rPr lang="en-US" sz="1725">
                <a:solidFill>
                  <a:srgbClr val="FFFD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.nav-toggle { display: inline-flex; }</a:t>
            </a:r>
          </a:p>
          <a:p>
            <a:pPr algn="l">
              <a:lnSpc>
                <a:spcPts val="2501"/>
              </a:lnSpc>
            </a:pPr>
            <a:r>
              <a:rPr lang="en-US" sz="1725">
                <a:solidFill>
                  <a:srgbClr val="FFFD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.nav-links {</a:t>
            </a:r>
          </a:p>
          <a:p>
            <a:pPr algn="l">
              <a:lnSpc>
                <a:spcPts val="2501"/>
              </a:lnSpc>
            </a:pPr>
            <a:r>
              <a:rPr lang="en-US" sz="1725">
                <a:solidFill>
                  <a:srgbClr val="FFFD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width: 100%; max-height: 0;</a:t>
            </a:r>
          </a:p>
          <a:p>
            <a:pPr algn="l">
              <a:lnSpc>
                <a:spcPts val="2501"/>
              </a:lnSpc>
            </a:pPr>
            <a:r>
              <a:rPr lang="en-US" sz="1725">
                <a:solidFill>
                  <a:srgbClr val="FFFD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overflow: hidden;</a:t>
            </a:r>
          </a:p>
          <a:p>
            <a:pPr algn="l">
              <a:lnSpc>
                <a:spcPts val="2501"/>
              </a:lnSpc>
            </a:pPr>
            <a:r>
              <a:rPr lang="en-US" sz="1725">
                <a:solidFill>
                  <a:srgbClr val="FFFD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flex-direction: column;</a:t>
            </a:r>
          </a:p>
          <a:p>
            <a:pPr algn="l">
              <a:lnSpc>
                <a:spcPts val="2501"/>
              </a:lnSpc>
            </a:pPr>
            <a:r>
              <a:rPr lang="en-US" sz="1725">
                <a:solidFill>
                  <a:srgbClr val="FFFDF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}</a:t>
            </a:r>
          </a:p>
          <a:p>
            <a:pPr algn="l">
              <a:lnSpc>
                <a:spcPts val="2501"/>
              </a:lnSpc>
            </a:pPr>
            <a:r>
              <a:rPr lang="en-US" sz="1725">
                <a:solidFill>
                  <a:srgbClr val="FFFDFB"/>
                </a:solidFill>
                <a:latin typeface="IBM Plex Mono"/>
                <a:ea typeface="IBM Plex Mono"/>
                <a:cs typeface="IBM Plex Mono"/>
                <a:sym typeface="IBM Plex Mono"/>
              </a:rPr>
              <a:t>}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72500" y="8553450"/>
            <a:ext cx="8715375" cy="263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7A1220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Desktop → mobile: navigation becomes a clear vertical menu without sacrificing usability.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D5AAF6-F815-C1E0-EBED-F46DEF630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087" y="1536700"/>
            <a:ext cx="9663113" cy="665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extLst>
              <a:ext uri="{FF2B5EF4-FFF2-40B4-BE49-F238E27FC236}">
                <a16:creationId xmlns:a16="http://schemas.microsoft.com/office/drawing/2014/main" id="{A35DDB37-42CE-4A46-71C7-660DD1EDB634}"/>
              </a:ext>
            </a:extLst>
          </p:cNvPr>
          <p:cNvSpPr/>
          <p:nvPr/>
        </p:nvSpPr>
        <p:spPr>
          <a:xfrm>
            <a:off x="990600" y="1066800"/>
            <a:ext cx="16306800" cy="0"/>
          </a:xfrm>
          <a:prstGeom prst="line">
            <a:avLst/>
          </a:prstGeom>
          <a:ln w="19050" cap="flat">
            <a:solidFill>
              <a:srgbClr val="EFDC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B577D8DA-B060-E327-226A-67AECA055FC3}"/>
              </a:ext>
            </a:extLst>
          </p:cNvPr>
          <p:cNvSpPr txBox="1"/>
          <p:nvPr/>
        </p:nvSpPr>
        <p:spPr>
          <a:xfrm>
            <a:off x="1981200" y="419100"/>
            <a:ext cx="11239500" cy="42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50"/>
              </a:lnSpc>
            </a:pPr>
            <a:r>
              <a:rPr lang="en-US" sz="3150" b="1" dirty="0">
                <a:solidFill>
                  <a:srgbClr val="5C0E19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Find Matches UI 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5C92B625-96B9-1D6F-AE57-E4855BF080EC}"/>
              </a:ext>
            </a:extLst>
          </p:cNvPr>
          <p:cNvSpPr txBox="1"/>
          <p:nvPr/>
        </p:nvSpPr>
        <p:spPr>
          <a:xfrm>
            <a:off x="14668500" y="533400"/>
            <a:ext cx="26193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FOREVERWALE</a:t>
            </a: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FFB63683-FA0B-FE7A-16EE-F574486A7AE3}"/>
              </a:ext>
            </a:extLst>
          </p:cNvPr>
          <p:cNvSpPr txBox="1"/>
          <p:nvPr/>
        </p:nvSpPr>
        <p:spPr>
          <a:xfrm>
            <a:off x="990600" y="533400"/>
            <a:ext cx="95250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08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4572719-0F1B-B8E2-CCA7-2EC734506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7316"/>
            <a:ext cx="9236684" cy="7870552"/>
          </a:xfrm>
          <a:prstGeom prst="rect">
            <a:avLst/>
          </a:prstGeom>
        </p:spPr>
      </p:pic>
      <p:grpSp>
        <p:nvGrpSpPr>
          <p:cNvPr id="16" name="Group 7">
            <a:extLst>
              <a:ext uri="{FF2B5EF4-FFF2-40B4-BE49-F238E27FC236}">
                <a16:creationId xmlns:a16="http://schemas.microsoft.com/office/drawing/2014/main" id="{D992097D-4B7D-657A-98F0-39B1D9551430}"/>
              </a:ext>
            </a:extLst>
          </p:cNvPr>
          <p:cNvGrpSpPr/>
          <p:nvPr/>
        </p:nvGrpSpPr>
        <p:grpSpPr>
          <a:xfrm>
            <a:off x="819150" y="6743700"/>
            <a:ext cx="2667000" cy="495300"/>
            <a:chOff x="482600" y="6314440"/>
            <a:chExt cx="3556000" cy="660400"/>
          </a:xfrm>
        </p:grpSpPr>
        <p:grpSp>
          <p:nvGrpSpPr>
            <p:cNvPr id="17" name="Group 8">
              <a:extLst>
                <a:ext uri="{FF2B5EF4-FFF2-40B4-BE49-F238E27FC236}">
                  <a16:creationId xmlns:a16="http://schemas.microsoft.com/office/drawing/2014/main" id="{F50E81DE-A8F5-DE4D-8EE3-694239C54D17}"/>
                </a:ext>
              </a:extLst>
            </p:cNvPr>
            <p:cNvGrpSpPr/>
            <p:nvPr/>
          </p:nvGrpSpPr>
          <p:grpSpPr>
            <a:xfrm>
              <a:off x="482600" y="6314440"/>
              <a:ext cx="3556000" cy="660400"/>
              <a:chOff x="482600" y="6314440"/>
              <a:chExt cx="3556000" cy="660400"/>
            </a:xfrm>
          </p:grpSpPr>
          <p:sp>
            <p:nvSpPr>
              <p:cNvPr id="19" name="Freeform 9">
                <a:extLst>
                  <a:ext uri="{FF2B5EF4-FFF2-40B4-BE49-F238E27FC236}">
                    <a16:creationId xmlns:a16="http://schemas.microsoft.com/office/drawing/2014/main" id="{2BA6CBE6-D145-038B-75DB-7F7A85B0CCD0}"/>
                  </a:ext>
                </a:extLst>
              </p:cNvPr>
              <p:cNvSpPr/>
              <p:nvPr/>
            </p:nvSpPr>
            <p:spPr>
              <a:xfrm>
                <a:off x="482600" y="6314440"/>
                <a:ext cx="3556000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3556000" h="660400">
                    <a:moveTo>
                      <a:pt x="117929" y="0"/>
                    </a:moveTo>
                    <a:lnTo>
                      <a:pt x="3438072" y="0"/>
                    </a:lnTo>
                    <a:cubicBezTo>
                      <a:pt x="3503202" y="0"/>
                      <a:pt x="3556000" y="52798"/>
                      <a:pt x="3556000" y="117929"/>
                    </a:cubicBezTo>
                    <a:lnTo>
                      <a:pt x="3556000" y="542471"/>
                    </a:lnTo>
                    <a:cubicBezTo>
                      <a:pt x="3556000" y="607602"/>
                      <a:pt x="3503202" y="660400"/>
                      <a:pt x="3438072" y="660400"/>
                    </a:cubicBezTo>
                    <a:lnTo>
                      <a:pt x="117929" y="660400"/>
                    </a:lnTo>
                    <a:cubicBezTo>
                      <a:pt x="52798" y="660400"/>
                      <a:pt x="0" y="607602"/>
                      <a:pt x="0" y="542471"/>
                    </a:cubicBezTo>
                    <a:lnTo>
                      <a:pt x="0" y="117929"/>
                    </a:lnTo>
                    <a:cubicBezTo>
                      <a:pt x="0" y="52798"/>
                      <a:pt x="52798" y="0"/>
                      <a:pt x="117929" y="0"/>
                    </a:cubicBezTo>
                    <a:close/>
                  </a:path>
                </a:pathLst>
              </a:custGeom>
              <a:solidFill>
                <a:srgbClr val="FFFDFB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id="18" name="TextBox 10">
              <a:extLst>
                <a:ext uri="{FF2B5EF4-FFF2-40B4-BE49-F238E27FC236}">
                  <a16:creationId xmlns:a16="http://schemas.microsoft.com/office/drawing/2014/main" id="{248E8E54-518E-0D50-DBDB-065D6CC4B865}"/>
                </a:ext>
              </a:extLst>
            </p:cNvPr>
            <p:cNvSpPr txBox="1"/>
            <p:nvPr/>
          </p:nvSpPr>
          <p:spPr>
            <a:xfrm>
              <a:off x="635000" y="6507957"/>
              <a:ext cx="3098800" cy="3077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2"/>
                </a:lnSpc>
              </a:pPr>
              <a:r>
                <a:rPr lang="en-US" sz="1350" b="1" dirty="0">
                  <a:solidFill>
                    <a:srgbClr val="7A1220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Profiles</a:t>
              </a:r>
            </a:p>
          </p:txBody>
        </p:sp>
      </p:grpSp>
      <p:sp>
        <p:nvSpPr>
          <p:cNvPr id="21" name="AutoShape 11">
            <a:extLst>
              <a:ext uri="{FF2B5EF4-FFF2-40B4-BE49-F238E27FC236}">
                <a16:creationId xmlns:a16="http://schemas.microsoft.com/office/drawing/2014/main" id="{3CD1344D-0D06-D258-AB36-ABD6F36F9C46}"/>
              </a:ext>
            </a:extLst>
          </p:cNvPr>
          <p:cNvSpPr/>
          <p:nvPr/>
        </p:nvSpPr>
        <p:spPr>
          <a:xfrm>
            <a:off x="3486150" y="6991350"/>
            <a:ext cx="628650" cy="0"/>
          </a:xfrm>
          <a:prstGeom prst="line">
            <a:avLst/>
          </a:prstGeom>
          <a:ln w="19050" cap="rnd">
            <a:solidFill>
              <a:srgbClr val="C4879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12">
            <a:extLst>
              <a:ext uri="{FF2B5EF4-FFF2-40B4-BE49-F238E27FC236}">
                <a16:creationId xmlns:a16="http://schemas.microsoft.com/office/drawing/2014/main" id="{058B9A13-949B-7191-4878-D2FD739BB914}"/>
              </a:ext>
            </a:extLst>
          </p:cNvPr>
          <p:cNvGrpSpPr/>
          <p:nvPr/>
        </p:nvGrpSpPr>
        <p:grpSpPr>
          <a:xfrm>
            <a:off x="13980134" y="3219450"/>
            <a:ext cx="2667000" cy="495300"/>
            <a:chOff x="0" y="0"/>
            <a:chExt cx="3556000" cy="660400"/>
          </a:xfrm>
        </p:grpSpPr>
        <p:grpSp>
          <p:nvGrpSpPr>
            <p:cNvPr id="23" name="Group 13">
              <a:extLst>
                <a:ext uri="{FF2B5EF4-FFF2-40B4-BE49-F238E27FC236}">
                  <a16:creationId xmlns:a16="http://schemas.microsoft.com/office/drawing/2014/main" id="{0DC39A73-E389-08DD-0D72-8ADDEFCA2491}"/>
                </a:ext>
              </a:extLst>
            </p:cNvPr>
            <p:cNvGrpSpPr/>
            <p:nvPr/>
          </p:nvGrpSpPr>
          <p:grpSpPr>
            <a:xfrm>
              <a:off x="0" y="0"/>
              <a:ext cx="3556000" cy="660400"/>
              <a:chOff x="0" y="0"/>
              <a:chExt cx="3556000" cy="660400"/>
            </a:xfrm>
          </p:grpSpPr>
          <p:sp>
            <p:nvSpPr>
              <p:cNvPr id="25" name="Freeform 14">
                <a:extLst>
                  <a:ext uri="{FF2B5EF4-FFF2-40B4-BE49-F238E27FC236}">
                    <a16:creationId xmlns:a16="http://schemas.microsoft.com/office/drawing/2014/main" id="{F37423DD-02BC-686F-5515-16356FD01B6D}"/>
                  </a:ext>
                </a:extLst>
              </p:cNvPr>
              <p:cNvSpPr/>
              <p:nvPr/>
            </p:nvSpPr>
            <p:spPr>
              <a:xfrm>
                <a:off x="0" y="0"/>
                <a:ext cx="3556000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3556000" h="660400">
                    <a:moveTo>
                      <a:pt x="117929" y="0"/>
                    </a:moveTo>
                    <a:lnTo>
                      <a:pt x="3438072" y="0"/>
                    </a:lnTo>
                    <a:cubicBezTo>
                      <a:pt x="3503202" y="0"/>
                      <a:pt x="3556000" y="52798"/>
                      <a:pt x="3556000" y="117929"/>
                    </a:cubicBezTo>
                    <a:lnTo>
                      <a:pt x="3556000" y="542471"/>
                    </a:lnTo>
                    <a:cubicBezTo>
                      <a:pt x="3556000" y="607602"/>
                      <a:pt x="3503202" y="660400"/>
                      <a:pt x="3438072" y="660400"/>
                    </a:cubicBezTo>
                    <a:lnTo>
                      <a:pt x="117929" y="660400"/>
                    </a:lnTo>
                    <a:cubicBezTo>
                      <a:pt x="52798" y="660400"/>
                      <a:pt x="0" y="607602"/>
                      <a:pt x="0" y="542471"/>
                    </a:cubicBezTo>
                    <a:lnTo>
                      <a:pt x="0" y="117929"/>
                    </a:lnTo>
                    <a:cubicBezTo>
                      <a:pt x="0" y="52798"/>
                      <a:pt x="52798" y="0"/>
                      <a:pt x="117929" y="0"/>
                    </a:cubicBezTo>
                    <a:close/>
                  </a:path>
                </a:pathLst>
              </a:custGeom>
              <a:solidFill>
                <a:srgbClr val="5C0E19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991A8B4A-21CE-14A9-E89A-7D63E40E3AD9}"/>
                </a:ext>
              </a:extLst>
            </p:cNvPr>
            <p:cNvSpPr txBox="1"/>
            <p:nvPr/>
          </p:nvSpPr>
          <p:spPr>
            <a:xfrm>
              <a:off x="228600" y="146051"/>
              <a:ext cx="3098800" cy="3077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2"/>
                </a:lnSpc>
              </a:pPr>
              <a:r>
                <a:rPr lang="en-US" sz="1350" b="1" dirty="0">
                  <a:solidFill>
                    <a:srgbClr val="FFFDFB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Search Bar</a:t>
              </a:r>
            </a:p>
          </p:txBody>
        </p:sp>
      </p:grpSp>
      <p:sp>
        <p:nvSpPr>
          <p:cNvPr id="27" name="AutoShape 11">
            <a:extLst>
              <a:ext uri="{FF2B5EF4-FFF2-40B4-BE49-F238E27FC236}">
                <a16:creationId xmlns:a16="http://schemas.microsoft.com/office/drawing/2014/main" id="{99A6D9A1-99BF-3077-7F57-39E04D836FB9}"/>
              </a:ext>
            </a:extLst>
          </p:cNvPr>
          <p:cNvSpPr/>
          <p:nvPr/>
        </p:nvSpPr>
        <p:spPr>
          <a:xfrm>
            <a:off x="13351484" y="3467100"/>
            <a:ext cx="628650" cy="0"/>
          </a:xfrm>
          <a:prstGeom prst="line">
            <a:avLst/>
          </a:prstGeom>
          <a:ln w="19050" cap="rnd">
            <a:solidFill>
              <a:srgbClr val="C48793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00673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44E4A-2D6B-1160-64F7-EC27F91F6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extLst>
              <a:ext uri="{FF2B5EF4-FFF2-40B4-BE49-F238E27FC236}">
                <a16:creationId xmlns:a16="http://schemas.microsoft.com/office/drawing/2014/main" id="{850CF8C7-4D0C-32B5-B4FB-265EB9CFF23B}"/>
              </a:ext>
            </a:extLst>
          </p:cNvPr>
          <p:cNvSpPr/>
          <p:nvPr/>
        </p:nvSpPr>
        <p:spPr>
          <a:xfrm>
            <a:off x="990600" y="1066800"/>
            <a:ext cx="16306800" cy="0"/>
          </a:xfrm>
          <a:prstGeom prst="line">
            <a:avLst/>
          </a:prstGeom>
          <a:ln w="19050" cap="flat">
            <a:solidFill>
              <a:srgbClr val="EFDC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52EDE7CB-D113-6C4D-C07B-FD4572CAAA47}"/>
              </a:ext>
            </a:extLst>
          </p:cNvPr>
          <p:cNvSpPr txBox="1"/>
          <p:nvPr/>
        </p:nvSpPr>
        <p:spPr>
          <a:xfrm>
            <a:off x="1981200" y="419100"/>
            <a:ext cx="11239500" cy="42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50"/>
              </a:lnSpc>
            </a:pPr>
            <a:r>
              <a:rPr lang="en-US" sz="3150" b="1" dirty="0">
                <a:solidFill>
                  <a:srgbClr val="5C0E19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Find Matches UI JS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B4BA03EE-CCFA-492A-C839-0D73FC99CE01}"/>
              </a:ext>
            </a:extLst>
          </p:cNvPr>
          <p:cNvSpPr txBox="1"/>
          <p:nvPr/>
        </p:nvSpPr>
        <p:spPr>
          <a:xfrm>
            <a:off x="14668500" y="533400"/>
            <a:ext cx="26193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FOREVERWALE</a:t>
            </a: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6E684C86-25AD-A225-C126-0FE623DED858}"/>
              </a:ext>
            </a:extLst>
          </p:cNvPr>
          <p:cNvSpPr txBox="1"/>
          <p:nvPr/>
        </p:nvSpPr>
        <p:spPr>
          <a:xfrm>
            <a:off x="990600" y="533400"/>
            <a:ext cx="95250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08</a:t>
            </a: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0E0F3E33-7125-06A4-594E-87B61A93D8B0}"/>
              </a:ext>
            </a:extLst>
          </p:cNvPr>
          <p:cNvSpPr txBox="1"/>
          <p:nvPr/>
        </p:nvSpPr>
        <p:spPr>
          <a:xfrm>
            <a:off x="14151584" y="3328988"/>
            <a:ext cx="2324100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2"/>
              </a:lnSpc>
            </a:pPr>
            <a:r>
              <a:rPr lang="en-US" sz="1350" b="1" dirty="0">
                <a:solidFill>
                  <a:srgbClr val="FFFDFB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Search Bar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9F3412-5AF2-DC17-76DE-A17A0AF66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1282233"/>
            <a:ext cx="8839200" cy="873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59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5">
            <a:extLst>
              <a:ext uri="{FF2B5EF4-FFF2-40B4-BE49-F238E27FC236}">
                <a16:creationId xmlns:a16="http://schemas.microsoft.com/office/drawing/2014/main" id="{C3C27B6B-60C1-30DB-473B-A82CB762B38C}"/>
              </a:ext>
            </a:extLst>
          </p:cNvPr>
          <p:cNvSpPr/>
          <p:nvPr/>
        </p:nvSpPr>
        <p:spPr>
          <a:xfrm>
            <a:off x="990600" y="1066800"/>
            <a:ext cx="16306800" cy="0"/>
          </a:xfrm>
          <a:prstGeom prst="line">
            <a:avLst/>
          </a:prstGeom>
          <a:ln w="19050" cap="flat">
            <a:solidFill>
              <a:srgbClr val="EFDC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18AD968E-D572-2EDD-D380-5BCC48375EF6}"/>
              </a:ext>
            </a:extLst>
          </p:cNvPr>
          <p:cNvSpPr txBox="1"/>
          <p:nvPr/>
        </p:nvSpPr>
        <p:spPr>
          <a:xfrm>
            <a:off x="14668500" y="533400"/>
            <a:ext cx="26193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FOREVERWALE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7BD90DD9-BCF9-192B-BD2F-3DDFCA102DB4}"/>
              </a:ext>
            </a:extLst>
          </p:cNvPr>
          <p:cNvSpPr txBox="1"/>
          <p:nvPr/>
        </p:nvSpPr>
        <p:spPr>
          <a:xfrm>
            <a:off x="1981200" y="419100"/>
            <a:ext cx="11239500" cy="42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50"/>
              </a:lnSpc>
            </a:pPr>
            <a:r>
              <a:rPr lang="en-US" sz="3150" b="1" dirty="0">
                <a:solidFill>
                  <a:srgbClr val="5C0E19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Post your details UI </a:t>
            </a:r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ACDDA8A3-0B08-F031-5780-DDD2FBD8BCA6}"/>
              </a:ext>
            </a:extLst>
          </p:cNvPr>
          <p:cNvSpPr txBox="1"/>
          <p:nvPr/>
        </p:nvSpPr>
        <p:spPr>
          <a:xfrm>
            <a:off x="990600" y="533400"/>
            <a:ext cx="95250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09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024D4E6-B812-A71B-8A9B-E3BF3FC8E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332300"/>
            <a:ext cx="8131093" cy="8482028"/>
          </a:xfrm>
          <a:prstGeom prst="rect">
            <a:avLst/>
          </a:prstGeom>
        </p:spPr>
      </p:pic>
      <p:grpSp>
        <p:nvGrpSpPr>
          <p:cNvPr id="18" name="Group 7">
            <a:extLst>
              <a:ext uri="{FF2B5EF4-FFF2-40B4-BE49-F238E27FC236}">
                <a16:creationId xmlns:a16="http://schemas.microsoft.com/office/drawing/2014/main" id="{82D3F42C-889E-356A-01AC-C18840E74E2C}"/>
              </a:ext>
            </a:extLst>
          </p:cNvPr>
          <p:cNvGrpSpPr/>
          <p:nvPr/>
        </p:nvGrpSpPr>
        <p:grpSpPr>
          <a:xfrm>
            <a:off x="1581150" y="4904509"/>
            <a:ext cx="2667000" cy="495300"/>
            <a:chOff x="482600" y="6314440"/>
            <a:chExt cx="3556000" cy="660400"/>
          </a:xfrm>
        </p:grpSpPr>
        <p:grpSp>
          <p:nvGrpSpPr>
            <p:cNvPr id="19" name="Group 8">
              <a:extLst>
                <a:ext uri="{FF2B5EF4-FFF2-40B4-BE49-F238E27FC236}">
                  <a16:creationId xmlns:a16="http://schemas.microsoft.com/office/drawing/2014/main" id="{81873A6D-E515-9313-95B2-7A23FBD4DD90}"/>
                </a:ext>
              </a:extLst>
            </p:cNvPr>
            <p:cNvGrpSpPr/>
            <p:nvPr/>
          </p:nvGrpSpPr>
          <p:grpSpPr>
            <a:xfrm>
              <a:off x="482600" y="6314440"/>
              <a:ext cx="3556000" cy="660400"/>
              <a:chOff x="482600" y="6314440"/>
              <a:chExt cx="3556000" cy="660400"/>
            </a:xfrm>
          </p:grpSpPr>
          <p:sp>
            <p:nvSpPr>
              <p:cNvPr id="21" name="Freeform 9">
                <a:extLst>
                  <a:ext uri="{FF2B5EF4-FFF2-40B4-BE49-F238E27FC236}">
                    <a16:creationId xmlns:a16="http://schemas.microsoft.com/office/drawing/2014/main" id="{234184A6-4411-75DF-CEEF-FDAD9D52556A}"/>
                  </a:ext>
                </a:extLst>
              </p:cNvPr>
              <p:cNvSpPr/>
              <p:nvPr/>
            </p:nvSpPr>
            <p:spPr>
              <a:xfrm>
                <a:off x="482600" y="6314440"/>
                <a:ext cx="3556000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3556000" h="660400">
                    <a:moveTo>
                      <a:pt x="117929" y="0"/>
                    </a:moveTo>
                    <a:lnTo>
                      <a:pt x="3438072" y="0"/>
                    </a:lnTo>
                    <a:cubicBezTo>
                      <a:pt x="3503202" y="0"/>
                      <a:pt x="3556000" y="52798"/>
                      <a:pt x="3556000" y="117929"/>
                    </a:cubicBezTo>
                    <a:lnTo>
                      <a:pt x="3556000" y="542471"/>
                    </a:lnTo>
                    <a:cubicBezTo>
                      <a:pt x="3556000" y="607602"/>
                      <a:pt x="3503202" y="660400"/>
                      <a:pt x="3438072" y="660400"/>
                    </a:cubicBezTo>
                    <a:lnTo>
                      <a:pt x="117929" y="660400"/>
                    </a:lnTo>
                    <a:cubicBezTo>
                      <a:pt x="52798" y="660400"/>
                      <a:pt x="0" y="607602"/>
                      <a:pt x="0" y="542471"/>
                    </a:cubicBezTo>
                    <a:lnTo>
                      <a:pt x="0" y="117929"/>
                    </a:lnTo>
                    <a:cubicBezTo>
                      <a:pt x="0" y="52798"/>
                      <a:pt x="52798" y="0"/>
                      <a:pt x="117929" y="0"/>
                    </a:cubicBezTo>
                    <a:close/>
                  </a:path>
                </a:pathLst>
              </a:custGeom>
              <a:solidFill>
                <a:srgbClr val="FFFDFB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D4D1A0C0-0626-8042-B677-0522B5BF21B8}"/>
                </a:ext>
              </a:extLst>
            </p:cNvPr>
            <p:cNvSpPr txBox="1"/>
            <p:nvPr/>
          </p:nvSpPr>
          <p:spPr>
            <a:xfrm>
              <a:off x="635000" y="6507957"/>
              <a:ext cx="3098800" cy="3077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2"/>
                </a:lnSpc>
              </a:pPr>
              <a:r>
                <a:rPr lang="en-US" sz="1350" b="1" dirty="0">
                  <a:solidFill>
                    <a:srgbClr val="7A1220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Personal Form</a:t>
              </a:r>
            </a:p>
          </p:txBody>
        </p:sp>
      </p:grpSp>
      <p:sp>
        <p:nvSpPr>
          <p:cNvPr id="23" name="AutoShape 11">
            <a:extLst>
              <a:ext uri="{FF2B5EF4-FFF2-40B4-BE49-F238E27FC236}">
                <a16:creationId xmlns:a16="http://schemas.microsoft.com/office/drawing/2014/main" id="{FE7E9A37-F69B-8F08-3FC5-3FD8BDC4ACE7}"/>
              </a:ext>
            </a:extLst>
          </p:cNvPr>
          <p:cNvSpPr/>
          <p:nvPr/>
        </p:nvSpPr>
        <p:spPr>
          <a:xfrm>
            <a:off x="4248150" y="5152159"/>
            <a:ext cx="628650" cy="0"/>
          </a:xfrm>
          <a:prstGeom prst="line">
            <a:avLst/>
          </a:prstGeom>
          <a:ln w="19050" cap="rnd">
            <a:solidFill>
              <a:srgbClr val="C4879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4" name="Group 12">
            <a:extLst>
              <a:ext uri="{FF2B5EF4-FFF2-40B4-BE49-F238E27FC236}">
                <a16:creationId xmlns:a16="http://schemas.microsoft.com/office/drawing/2014/main" id="{757F3C90-6F10-11B4-E396-6DD00ADF0426}"/>
              </a:ext>
            </a:extLst>
          </p:cNvPr>
          <p:cNvGrpSpPr/>
          <p:nvPr/>
        </p:nvGrpSpPr>
        <p:grpSpPr>
          <a:xfrm>
            <a:off x="13615761" y="2152650"/>
            <a:ext cx="2667000" cy="495300"/>
            <a:chOff x="-540052" y="-1422400"/>
            <a:chExt cx="3556000" cy="660400"/>
          </a:xfrm>
        </p:grpSpPr>
        <p:grpSp>
          <p:nvGrpSpPr>
            <p:cNvPr id="25" name="Group 13">
              <a:extLst>
                <a:ext uri="{FF2B5EF4-FFF2-40B4-BE49-F238E27FC236}">
                  <a16:creationId xmlns:a16="http://schemas.microsoft.com/office/drawing/2014/main" id="{E28B7243-5EB0-F008-FE99-352F434F15F7}"/>
                </a:ext>
              </a:extLst>
            </p:cNvPr>
            <p:cNvGrpSpPr/>
            <p:nvPr/>
          </p:nvGrpSpPr>
          <p:grpSpPr>
            <a:xfrm>
              <a:off x="-540052" y="-1422400"/>
              <a:ext cx="3556000" cy="660400"/>
              <a:chOff x="-540052" y="-1422400"/>
              <a:chExt cx="3556000" cy="660400"/>
            </a:xfrm>
          </p:grpSpPr>
          <p:sp>
            <p:nvSpPr>
              <p:cNvPr id="27" name="Freeform 14">
                <a:extLst>
                  <a:ext uri="{FF2B5EF4-FFF2-40B4-BE49-F238E27FC236}">
                    <a16:creationId xmlns:a16="http://schemas.microsoft.com/office/drawing/2014/main" id="{8558C644-B2FC-7989-F270-1BD8934C9781}"/>
                  </a:ext>
                </a:extLst>
              </p:cNvPr>
              <p:cNvSpPr/>
              <p:nvPr/>
            </p:nvSpPr>
            <p:spPr>
              <a:xfrm>
                <a:off x="-540052" y="-1422400"/>
                <a:ext cx="3556000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3556000" h="660400">
                    <a:moveTo>
                      <a:pt x="117929" y="0"/>
                    </a:moveTo>
                    <a:lnTo>
                      <a:pt x="3438072" y="0"/>
                    </a:lnTo>
                    <a:cubicBezTo>
                      <a:pt x="3503202" y="0"/>
                      <a:pt x="3556000" y="52798"/>
                      <a:pt x="3556000" y="117929"/>
                    </a:cubicBezTo>
                    <a:lnTo>
                      <a:pt x="3556000" y="542471"/>
                    </a:lnTo>
                    <a:cubicBezTo>
                      <a:pt x="3556000" y="607602"/>
                      <a:pt x="3503202" y="660400"/>
                      <a:pt x="3438072" y="660400"/>
                    </a:cubicBezTo>
                    <a:lnTo>
                      <a:pt x="117929" y="660400"/>
                    </a:lnTo>
                    <a:cubicBezTo>
                      <a:pt x="52798" y="660400"/>
                      <a:pt x="0" y="607602"/>
                      <a:pt x="0" y="542471"/>
                    </a:cubicBezTo>
                    <a:lnTo>
                      <a:pt x="0" y="117929"/>
                    </a:lnTo>
                    <a:cubicBezTo>
                      <a:pt x="0" y="52798"/>
                      <a:pt x="52798" y="0"/>
                      <a:pt x="117929" y="0"/>
                    </a:cubicBezTo>
                    <a:close/>
                  </a:path>
                </a:pathLst>
              </a:custGeom>
              <a:solidFill>
                <a:srgbClr val="5C0E19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IN" dirty="0"/>
              </a:p>
            </p:txBody>
          </p:sp>
        </p:grpSp>
        <p:sp>
          <p:nvSpPr>
            <p:cNvPr id="26" name="TextBox 15">
              <a:extLst>
                <a:ext uri="{FF2B5EF4-FFF2-40B4-BE49-F238E27FC236}">
                  <a16:creationId xmlns:a16="http://schemas.microsoft.com/office/drawing/2014/main" id="{BC82759E-DAE7-97E8-6D9B-8BA55B0E36A5}"/>
                </a:ext>
              </a:extLst>
            </p:cNvPr>
            <p:cNvSpPr txBox="1"/>
            <p:nvPr/>
          </p:nvSpPr>
          <p:spPr>
            <a:xfrm>
              <a:off x="-488951" y="-1246088"/>
              <a:ext cx="3098800" cy="3077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2"/>
                </a:lnSpc>
              </a:pPr>
              <a:r>
                <a:rPr lang="en-US" sz="1350" b="1" dirty="0">
                  <a:solidFill>
                    <a:srgbClr val="FFFDFB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Details Posting</a:t>
              </a:r>
            </a:p>
          </p:txBody>
        </p:sp>
      </p:grpSp>
      <p:sp>
        <p:nvSpPr>
          <p:cNvPr id="29" name="AutoShape 11">
            <a:extLst>
              <a:ext uri="{FF2B5EF4-FFF2-40B4-BE49-F238E27FC236}">
                <a16:creationId xmlns:a16="http://schemas.microsoft.com/office/drawing/2014/main" id="{3F02735D-23F7-293D-B113-C88735B18270}"/>
              </a:ext>
            </a:extLst>
          </p:cNvPr>
          <p:cNvSpPr/>
          <p:nvPr/>
        </p:nvSpPr>
        <p:spPr>
          <a:xfrm>
            <a:off x="13007893" y="2400300"/>
            <a:ext cx="628650" cy="0"/>
          </a:xfrm>
          <a:prstGeom prst="line">
            <a:avLst/>
          </a:prstGeom>
          <a:ln w="19050" cap="rnd">
            <a:solidFill>
              <a:srgbClr val="C487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80823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20DED-ED66-667E-A781-29D3F6616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5">
            <a:extLst>
              <a:ext uri="{FF2B5EF4-FFF2-40B4-BE49-F238E27FC236}">
                <a16:creationId xmlns:a16="http://schemas.microsoft.com/office/drawing/2014/main" id="{785C023D-16F3-E44D-BFBC-B1EA408F357C}"/>
              </a:ext>
            </a:extLst>
          </p:cNvPr>
          <p:cNvSpPr/>
          <p:nvPr/>
        </p:nvSpPr>
        <p:spPr>
          <a:xfrm>
            <a:off x="990600" y="1066800"/>
            <a:ext cx="16306800" cy="0"/>
          </a:xfrm>
          <a:prstGeom prst="line">
            <a:avLst/>
          </a:prstGeom>
          <a:ln w="19050" cap="flat">
            <a:solidFill>
              <a:srgbClr val="EFDC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ACF992D2-3154-89BC-742D-1E560BAAE6CC}"/>
              </a:ext>
            </a:extLst>
          </p:cNvPr>
          <p:cNvSpPr txBox="1"/>
          <p:nvPr/>
        </p:nvSpPr>
        <p:spPr>
          <a:xfrm>
            <a:off x="14668500" y="533400"/>
            <a:ext cx="26193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FOREVERWALE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F0A3BC73-C414-0227-79F1-391D2D60AE78}"/>
              </a:ext>
            </a:extLst>
          </p:cNvPr>
          <p:cNvSpPr txBox="1"/>
          <p:nvPr/>
        </p:nvSpPr>
        <p:spPr>
          <a:xfrm>
            <a:off x="1981200" y="419100"/>
            <a:ext cx="11239500" cy="42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50"/>
              </a:lnSpc>
            </a:pPr>
            <a:r>
              <a:rPr lang="en-US" sz="3150" b="1" dirty="0">
                <a:solidFill>
                  <a:srgbClr val="5C0E19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Post your details JS</a:t>
            </a:r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CE9FCFC4-B900-9812-2736-8536608DEA05}"/>
              </a:ext>
            </a:extLst>
          </p:cNvPr>
          <p:cNvSpPr txBox="1"/>
          <p:nvPr/>
        </p:nvSpPr>
        <p:spPr>
          <a:xfrm>
            <a:off x="990600" y="533400"/>
            <a:ext cx="95250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09</a:t>
            </a:r>
          </a:p>
        </p:txBody>
      </p:sp>
      <p:grpSp>
        <p:nvGrpSpPr>
          <p:cNvPr id="19" name="Group 8">
            <a:extLst>
              <a:ext uri="{FF2B5EF4-FFF2-40B4-BE49-F238E27FC236}">
                <a16:creationId xmlns:a16="http://schemas.microsoft.com/office/drawing/2014/main" id="{604084D1-185A-F35A-269C-B66EB9BAD057}"/>
              </a:ext>
            </a:extLst>
          </p:cNvPr>
          <p:cNvGrpSpPr/>
          <p:nvPr/>
        </p:nvGrpSpPr>
        <p:grpSpPr>
          <a:xfrm>
            <a:off x="1581150" y="4904509"/>
            <a:ext cx="2667000" cy="495300"/>
            <a:chOff x="482600" y="6314440"/>
            <a:chExt cx="3556000" cy="660400"/>
          </a:xfrm>
        </p:grpSpPr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9E466E15-DB57-1BF1-927C-753577A3E030}"/>
                </a:ext>
              </a:extLst>
            </p:cNvPr>
            <p:cNvSpPr/>
            <p:nvPr/>
          </p:nvSpPr>
          <p:spPr>
            <a:xfrm>
              <a:off x="482600" y="6314440"/>
              <a:ext cx="3556000" cy="660400"/>
            </a:xfrm>
            <a:custGeom>
              <a:avLst/>
              <a:gdLst/>
              <a:ahLst/>
              <a:cxnLst/>
              <a:rect l="l" t="t" r="r" b="b"/>
              <a:pathLst>
                <a:path w="3556000" h="660400">
                  <a:moveTo>
                    <a:pt x="117929" y="0"/>
                  </a:moveTo>
                  <a:lnTo>
                    <a:pt x="3438072" y="0"/>
                  </a:lnTo>
                  <a:cubicBezTo>
                    <a:pt x="3503202" y="0"/>
                    <a:pt x="3556000" y="52798"/>
                    <a:pt x="3556000" y="117929"/>
                  </a:cubicBezTo>
                  <a:lnTo>
                    <a:pt x="3556000" y="542471"/>
                  </a:lnTo>
                  <a:cubicBezTo>
                    <a:pt x="3556000" y="607602"/>
                    <a:pt x="3503202" y="660400"/>
                    <a:pt x="3438072" y="660400"/>
                  </a:cubicBezTo>
                  <a:lnTo>
                    <a:pt x="117929" y="660400"/>
                  </a:lnTo>
                  <a:cubicBezTo>
                    <a:pt x="52798" y="660400"/>
                    <a:pt x="0" y="607602"/>
                    <a:pt x="0" y="542471"/>
                  </a:cubicBezTo>
                  <a:lnTo>
                    <a:pt x="0" y="117929"/>
                  </a:lnTo>
                  <a:cubicBezTo>
                    <a:pt x="0" y="52798"/>
                    <a:pt x="52798" y="0"/>
                    <a:pt x="117929" y="0"/>
                  </a:cubicBezTo>
                  <a:close/>
                </a:path>
              </a:pathLst>
            </a:custGeom>
            <a:solidFill>
              <a:srgbClr val="FFFDFB"/>
            </a:solidFill>
            <a:ln cap="rnd">
              <a:noFill/>
              <a:prstDash val="solid"/>
              <a:round/>
            </a:ln>
          </p:spPr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D2680B9-170C-B130-B931-BC6F73E58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0" y="1152295"/>
            <a:ext cx="9372600" cy="88028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230C60-6C27-1EE9-3ECF-8ECA56962B16}"/>
              </a:ext>
            </a:extLst>
          </p:cNvPr>
          <p:cNvSpPr txBox="1"/>
          <p:nvPr/>
        </p:nvSpPr>
        <p:spPr>
          <a:xfrm>
            <a:off x="-861391" y="43997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440B16-C9ED-D083-A6EE-44468B863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724655"/>
            <a:ext cx="8349669" cy="765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602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extLst>
              <a:ext uri="{FF2B5EF4-FFF2-40B4-BE49-F238E27FC236}">
                <a16:creationId xmlns:a16="http://schemas.microsoft.com/office/drawing/2014/main" id="{56454B78-A124-2498-F931-AB37DFFC6180}"/>
              </a:ext>
            </a:extLst>
          </p:cNvPr>
          <p:cNvSpPr/>
          <p:nvPr/>
        </p:nvSpPr>
        <p:spPr>
          <a:xfrm>
            <a:off x="990600" y="1066800"/>
            <a:ext cx="16306800" cy="0"/>
          </a:xfrm>
          <a:prstGeom prst="line">
            <a:avLst/>
          </a:prstGeom>
          <a:ln w="19050" cap="flat">
            <a:solidFill>
              <a:srgbClr val="EFDC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210D1DB-E572-C74C-2435-26EF142E5E18}"/>
              </a:ext>
            </a:extLst>
          </p:cNvPr>
          <p:cNvSpPr txBox="1"/>
          <p:nvPr/>
        </p:nvSpPr>
        <p:spPr>
          <a:xfrm>
            <a:off x="1981200" y="419100"/>
            <a:ext cx="11239500" cy="42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50"/>
              </a:lnSpc>
            </a:pPr>
            <a:r>
              <a:rPr lang="en-US" sz="3150" b="1" dirty="0">
                <a:solidFill>
                  <a:srgbClr val="5C0E19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About Us UI 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F5DC848C-1F9E-CB0A-37A3-B52A4010DA1D}"/>
              </a:ext>
            </a:extLst>
          </p:cNvPr>
          <p:cNvSpPr txBox="1"/>
          <p:nvPr/>
        </p:nvSpPr>
        <p:spPr>
          <a:xfrm>
            <a:off x="14668500" y="533400"/>
            <a:ext cx="26193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FOREVERWALE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3CC4E706-7ECC-E620-8B88-BE89B0FC6978}"/>
              </a:ext>
            </a:extLst>
          </p:cNvPr>
          <p:cNvSpPr txBox="1"/>
          <p:nvPr/>
        </p:nvSpPr>
        <p:spPr>
          <a:xfrm>
            <a:off x="990600" y="533400"/>
            <a:ext cx="95250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09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F16657-0C34-C300-D465-9619D0D0F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1152295"/>
            <a:ext cx="11049000" cy="8868005"/>
          </a:xfrm>
          <a:prstGeom prst="rect">
            <a:avLst/>
          </a:prstGeom>
        </p:spPr>
      </p:pic>
      <p:grpSp>
        <p:nvGrpSpPr>
          <p:cNvPr id="14" name="Group 7">
            <a:extLst>
              <a:ext uri="{FF2B5EF4-FFF2-40B4-BE49-F238E27FC236}">
                <a16:creationId xmlns:a16="http://schemas.microsoft.com/office/drawing/2014/main" id="{910B92CF-3F31-1535-E552-1ADEF79C1661}"/>
              </a:ext>
            </a:extLst>
          </p:cNvPr>
          <p:cNvGrpSpPr/>
          <p:nvPr/>
        </p:nvGrpSpPr>
        <p:grpSpPr>
          <a:xfrm>
            <a:off x="542925" y="7734300"/>
            <a:ext cx="2800350" cy="637309"/>
            <a:chOff x="-388257" y="8762227"/>
            <a:chExt cx="3556000" cy="660400"/>
          </a:xfrm>
        </p:grpSpPr>
        <p:grpSp>
          <p:nvGrpSpPr>
            <p:cNvPr id="15" name="Group 8">
              <a:extLst>
                <a:ext uri="{FF2B5EF4-FFF2-40B4-BE49-F238E27FC236}">
                  <a16:creationId xmlns:a16="http://schemas.microsoft.com/office/drawing/2014/main" id="{18DC5204-D87E-6B90-2565-D7F62E2371C6}"/>
                </a:ext>
              </a:extLst>
            </p:cNvPr>
            <p:cNvGrpSpPr/>
            <p:nvPr/>
          </p:nvGrpSpPr>
          <p:grpSpPr>
            <a:xfrm>
              <a:off x="-388257" y="8762227"/>
              <a:ext cx="3556000" cy="660400"/>
              <a:chOff x="-388257" y="8762227"/>
              <a:chExt cx="3556000" cy="660400"/>
            </a:xfrm>
          </p:grpSpPr>
          <p:sp>
            <p:nvSpPr>
              <p:cNvPr id="17" name="Freeform 9">
                <a:extLst>
                  <a:ext uri="{FF2B5EF4-FFF2-40B4-BE49-F238E27FC236}">
                    <a16:creationId xmlns:a16="http://schemas.microsoft.com/office/drawing/2014/main" id="{E275D28D-2BE3-F8E4-68B9-984727480740}"/>
                  </a:ext>
                </a:extLst>
              </p:cNvPr>
              <p:cNvSpPr/>
              <p:nvPr/>
            </p:nvSpPr>
            <p:spPr>
              <a:xfrm>
                <a:off x="-388257" y="8762227"/>
                <a:ext cx="3556000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3556000" h="660400">
                    <a:moveTo>
                      <a:pt x="117929" y="0"/>
                    </a:moveTo>
                    <a:lnTo>
                      <a:pt x="3438072" y="0"/>
                    </a:lnTo>
                    <a:cubicBezTo>
                      <a:pt x="3503202" y="0"/>
                      <a:pt x="3556000" y="52798"/>
                      <a:pt x="3556000" y="117929"/>
                    </a:cubicBezTo>
                    <a:lnTo>
                      <a:pt x="3556000" y="542471"/>
                    </a:lnTo>
                    <a:cubicBezTo>
                      <a:pt x="3556000" y="607602"/>
                      <a:pt x="3503202" y="660400"/>
                      <a:pt x="3438072" y="660400"/>
                    </a:cubicBezTo>
                    <a:lnTo>
                      <a:pt x="117929" y="660400"/>
                    </a:lnTo>
                    <a:cubicBezTo>
                      <a:pt x="52798" y="660400"/>
                      <a:pt x="0" y="607602"/>
                      <a:pt x="0" y="542471"/>
                    </a:cubicBezTo>
                    <a:lnTo>
                      <a:pt x="0" y="117929"/>
                    </a:lnTo>
                    <a:cubicBezTo>
                      <a:pt x="0" y="52798"/>
                      <a:pt x="52798" y="0"/>
                      <a:pt x="117929" y="0"/>
                    </a:cubicBezTo>
                    <a:close/>
                  </a:path>
                </a:pathLst>
              </a:custGeom>
              <a:solidFill>
                <a:srgbClr val="FFFDFB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id="16" name="TextBox 10">
              <a:extLst>
                <a:ext uri="{FF2B5EF4-FFF2-40B4-BE49-F238E27FC236}">
                  <a16:creationId xmlns:a16="http://schemas.microsoft.com/office/drawing/2014/main" id="{66ADBF72-B878-C859-D17A-6E15802C9BC7}"/>
                </a:ext>
              </a:extLst>
            </p:cNvPr>
            <p:cNvSpPr txBox="1"/>
            <p:nvPr/>
          </p:nvSpPr>
          <p:spPr>
            <a:xfrm>
              <a:off x="-159658" y="8938538"/>
              <a:ext cx="3098800" cy="2391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2"/>
                </a:lnSpc>
              </a:pPr>
              <a:r>
                <a:rPr lang="en-US" sz="1350" b="1" dirty="0">
                  <a:solidFill>
                    <a:srgbClr val="7A1220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Policies</a:t>
              </a:r>
            </a:p>
          </p:txBody>
        </p:sp>
      </p:grpSp>
      <p:grpSp>
        <p:nvGrpSpPr>
          <p:cNvPr id="20" name="Group 12">
            <a:extLst>
              <a:ext uri="{FF2B5EF4-FFF2-40B4-BE49-F238E27FC236}">
                <a16:creationId xmlns:a16="http://schemas.microsoft.com/office/drawing/2014/main" id="{950E2D6B-049C-0FCB-0718-D5CC2898E62B}"/>
              </a:ext>
            </a:extLst>
          </p:cNvPr>
          <p:cNvGrpSpPr/>
          <p:nvPr/>
        </p:nvGrpSpPr>
        <p:grpSpPr>
          <a:xfrm>
            <a:off x="15325725" y="4133850"/>
            <a:ext cx="2667000" cy="495300"/>
            <a:chOff x="-558526" y="-1447800"/>
            <a:chExt cx="3556000" cy="660400"/>
          </a:xfrm>
        </p:grpSpPr>
        <p:grpSp>
          <p:nvGrpSpPr>
            <p:cNvPr id="21" name="Group 13">
              <a:extLst>
                <a:ext uri="{FF2B5EF4-FFF2-40B4-BE49-F238E27FC236}">
                  <a16:creationId xmlns:a16="http://schemas.microsoft.com/office/drawing/2014/main" id="{5F71FF9B-7C0C-6175-532A-AF3E71A2ECF3}"/>
                </a:ext>
              </a:extLst>
            </p:cNvPr>
            <p:cNvGrpSpPr/>
            <p:nvPr/>
          </p:nvGrpSpPr>
          <p:grpSpPr>
            <a:xfrm>
              <a:off x="-558526" y="-1447800"/>
              <a:ext cx="3556000" cy="660400"/>
              <a:chOff x="-558526" y="-1447800"/>
              <a:chExt cx="3556000" cy="660400"/>
            </a:xfrm>
          </p:grpSpPr>
          <p:sp>
            <p:nvSpPr>
              <p:cNvPr id="23" name="Freeform 14">
                <a:extLst>
                  <a:ext uri="{FF2B5EF4-FFF2-40B4-BE49-F238E27FC236}">
                    <a16:creationId xmlns:a16="http://schemas.microsoft.com/office/drawing/2014/main" id="{7D9BB6AE-11C3-0B74-65D8-A64EDF1EF7B1}"/>
                  </a:ext>
                </a:extLst>
              </p:cNvPr>
              <p:cNvSpPr/>
              <p:nvPr/>
            </p:nvSpPr>
            <p:spPr>
              <a:xfrm>
                <a:off x="-558526" y="-1447800"/>
                <a:ext cx="3556000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3556000" h="660400">
                    <a:moveTo>
                      <a:pt x="117929" y="0"/>
                    </a:moveTo>
                    <a:lnTo>
                      <a:pt x="3438072" y="0"/>
                    </a:lnTo>
                    <a:cubicBezTo>
                      <a:pt x="3503202" y="0"/>
                      <a:pt x="3556000" y="52798"/>
                      <a:pt x="3556000" y="117929"/>
                    </a:cubicBezTo>
                    <a:lnTo>
                      <a:pt x="3556000" y="542471"/>
                    </a:lnTo>
                    <a:cubicBezTo>
                      <a:pt x="3556000" y="607602"/>
                      <a:pt x="3503202" y="660400"/>
                      <a:pt x="3438072" y="660400"/>
                    </a:cubicBezTo>
                    <a:lnTo>
                      <a:pt x="117929" y="660400"/>
                    </a:lnTo>
                    <a:cubicBezTo>
                      <a:pt x="52798" y="660400"/>
                      <a:pt x="0" y="607602"/>
                      <a:pt x="0" y="542471"/>
                    </a:cubicBezTo>
                    <a:lnTo>
                      <a:pt x="0" y="117929"/>
                    </a:lnTo>
                    <a:cubicBezTo>
                      <a:pt x="0" y="52798"/>
                      <a:pt x="52798" y="0"/>
                      <a:pt x="117929" y="0"/>
                    </a:cubicBezTo>
                    <a:close/>
                  </a:path>
                </a:pathLst>
              </a:custGeom>
              <a:solidFill>
                <a:srgbClr val="5C0E19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IN" dirty="0"/>
              </a:p>
            </p:txBody>
          </p:sp>
        </p:grpSp>
        <p:sp>
          <p:nvSpPr>
            <p:cNvPr id="22" name="TextBox 15">
              <a:extLst>
                <a:ext uri="{FF2B5EF4-FFF2-40B4-BE49-F238E27FC236}">
                  <a16:creationId xmlns:a16="http://schemas.microsoft.com/office/drawing/2014/main" id="{308D8D12-CB09-B757-91EC-F0F0DBED072C}"/>
                </a:ext>
              </a:extLst>
            </p:cNvPr>
            <p:cNvSpPr txBox="1"/>
            <p:nvPr/>
          </p:nvSpPr>
          <p:spPr>
            <a:xfrm>
              <a:off x="-295139" y="-1271488"/>
              <a:ext cx="3098800" cy="3077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2"/>
                </a:lnSpc>
              </a:pPr>
              <a:r>
                <a:rPr lang="en-US" sz="1350" b="1" dirty="0">
                  <a:solidFill>
                    <a:srgbClr val="FFFDFB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Main Goal</a:t>
              </a:r>
            </a:p>
          </p:txBody>
        </p:sp>
      </p:grpSp>
      <p:sp>
        <p:nvSpPr>
          <p:cNvPr id="25" name="AutoShape 11">
            <a:extLst>
              <a:ext uri="{FF2B5EF4-FFF2-40B4-BE49-F238E27FC236}">
                <a16:creationId xmlns:a16="http://schemas.microsoft.com/office/drawing/2014/main" id="{0E27C925-8B96-FDD3-5BDC-5139C364EF9C}"/>
              </a:ext>
            </a:extLst>
          </p:cNvPr>
          <p:cNvSpPr/>
          <p:nvPr/>
        </p:nvSpPr>
        <p:spPr>
          <a:xfrm>
            <a:off x="14859000" y="4381500"/>
            <a:ext cx="518906" cy="0"/>
          </a:xfrm>
          <a:prstGeom prst="line">
            <a:avLst/>
          </a:prstGeom>
          <a:ln w="19050" cap="rnd">
            <a:solidFill>
              <a:srgbClr val="C48793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71412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17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E56CE0-F198-04E0-70D1-1D4DA1477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extLst>
              <a:ext uri="{FF2B5EF4-FFF2-40B4-BE49-F238E27FC236}">
                <a16:creationId xmlns:a16="http://schemas.microsoft.com/office/drawing/2014/main" id="{4CAAC903-0EB8-B54D-F31C-D2AB78A875CB}"/>
              </a:ext>
            </a:extLst>
          </p:cNvPr>
          <p:cNvSpPr/>
          <p:nvPr/>
        </p:nvSpPr>
        <p:spPr>
          <a:xfrm>
            <a:off x="990600" y="1066800"/>
            <a:ext cx="16306800" cy="0"/>
          </a:xfrm>
          <a:prstGeom prst="line">
            <a:avLst/>
          </a:prstGeom>
          <a:ln w="19050" cap="flat">
            <a:solidFill>
              <a:srgbClr val="EFDC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56F732B4-06E2-B52A-51A0-B54547847861}"/>
              </a:ext>
            </a:extLst>
          </p:cNvPr>
          <p:cNvSpPr txBox="1"/>
          <p:nvPr/>
        </p:nvSpPr>
        <p:spPr>
          <a:xfrm>
            <a:off x="1981200" y="419100"/>
            <a:ext cx="11239500" cy="42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50"/>
              </a:lnSpc>
            </a:pPr>
            <a:r>
              <a:rPr lang="en-US" sz="3150" b="1" dirty="0">
                <a:solidFill>
                  <a:srgbClr val="5C0E19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Contact Us UI 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C5BEE1F2-A223-2145-310B-C21F27E41BB0}"/>
              </a:ext>
            </a:extLst>
          </p:cNvPr>
          <p:cNvSpPr txBox="1"/>
          <p:nvPr/>
        </p:nvSpPr>
        <p:spPr>
          <a:xfrm>
            <a:off x="14668500" y="533400"/>
            <a:ext cx="26193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FOREVERWALE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8B6FD80E-D0C4-369E-8CC7-7034674B8EC7}"/>
              </a:ext>
            </a:extLst>
          </p:cNvPr>
          <p:cNvSpPr txBox="1"/>
          <p:nvPr/>
        </p:nvSpPr>
        <p:spPr>
          <a:xfrm>
            <a:off x="990600" y="533400"/>
            <a:ext cx="95250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09</a:t>
            </a:r>
          </a:p>
        </p:txBody>
      </p:sp>
      <p:grpSp>
        <p:nvGrpSpPr>
          <p:cNvPr id="14" name="Group 7">
            <a:extLst>
              <a:ext uri="{FF2B5EF4-FFF2-40B4-BE49-F238E27FC236}">
                <a16:creationId xmlns:a16="http://schemas.microsoft.com/office/drawing/2014/main" id="{29D805F0-F812-E83F-949A-D7353E8A14EC}"/>
              </a:ext>
            </a:extLst>
          </p:cNvPr>
          <p:cNvGrpSpPr/>
          <p:nvPr/>
        </p:nvGrpSpPr>
        <p:grpSpPr>
          <a:xfrm>
            <a:off x="1943100" y="4234295"/>
            <a:ext cx="2800350" cy="637309"/>
            <a:chOff x="-339876" y="8727935"/>
            <a:chExt cx="3556000" cy="660400"/>
          </a:xfrm>
        </p:grpSpPr>
        <p:grpSp>
          <p:nvGrpSpPr>
            <p:cNvPr id="15" name="Group 8">
              <a:extLst>
                <a:ext uri="{FF2B5EF4-FFF2-40B4-BE49-F238E27FC236}">
                  <a16:creationId xmlns:a16="http://schemas.microsoft.com/office/drawing/2014/main" id="{784E4233-E43C-75A3-5CC7-1501077E5753}"/>
                </a:ext>
              </a:extLst>
            </p:cNvPr>
            <p:cNvGrpSpPr/>
            <p:nvPr/>
          </p:nvGrpSpPr>
          <p:grpSpPr>
            <a:xfrm>
              <a:off x="-339876" y="8727935"/>
              <a:ext cx="3556000" cy="660400"/>
              <a:chOff x="-339876" y="8727935"/>
              <a:chExt cx="3556000" cy="660400"/>
            </a:xfrm>
          </p:grpSpPr>
          <p:sp>
            <p:nvSpPr>
              <p:cNvPr id="17" name="Freeform 9">
                <a:extLst>
                  <a:ext uri="{FF2B5EF4-FFF2-40B4-BE49-F238E27FC236}">
                    <a16:creationId xmlns:a16="http://schemas.microsoft.com/office/drawing/2014/main" id="{25A1D49A-6C84-DE42-3186-9B7B3FB6201D}"/>
                  </a:ext>
                </a:extLst>
              </p:cNvPr>
              <p:cNvSpPr/>
              <p:nvPr/>
            </p:nvSpPr>
            <p:spPr>
              <a:xfrm>
                <a:off x="-339876" y="8727935"/>
                <a:ext cx="3556000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3556000" h="660400">
                    <a:moveTo>
                      <a:pt x="117929" y="0"/>
                    </a:moveTo>
                    <a:lnTo>
                      <a:pt x="3438072" y="0"/>
                    </a:lnTo>
                    <a:cubicBezTo>
                      <a:pt x="3503202" y="0"/>
                      <a:pt x="3556000" y="52798"/>
                      <a:pt x="3556000" y="117929"/>
                    </a:cubicBezTo>
                    <a:lnTo>
                      <a:pt x="3556000" y="542471"/>
                    </a:lnTo>
                    <a:cubicBezTo>
                      <a:pt x="3556000" y="607602"/>
                      <a:pt x="3503202" y="660400"/>
                      <a:pt x="3438072" y="660400"/>
                    </a:cubicBezTo>
                    <a:lnTo>
                      <a:pt x="117929" y="660400"/>
                    </a:lnTo>
                    <a:cubicBezTo>
                      <a:pt x="52798" y="660400"/>
                      <a:pt x="0" y="607602"/>
                      <a:pt x="0" y="542471"/>
                    </a:cubicBezTo>
                    <a:lnTo>
                      <a:pt x="0" y="117929"/>
                    </a:lnTo>
                    <a:cubicBezTo>
                      <a:pt x="0" y="52798"/>
                      <a:pt x="52798" y="0"/>
                      <a:pt x="117929" y="0"/>
                    </a:cubicBezTo>
                    <a:close/>
                  </a:path>
                </a:pathLst>
              </a:custGeom>
              <a:solidFill>
                <a:srgbClr val="FFFDFB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IN" dirty="0"/>
              </a:p>
            </p:txBody>
          </p:sp>
        </p:grpSp>
        <p:sp>
          <p:nvSpPr>
            <p:cNvPr id="16" name="TextBox 10">
              <a:extLst>
                <a:ext uri="{FF2B5EF4-FFF2-40B4-BE49-F238E27FC236}">
                  <a16:creationId xmlns:a16="http://schemas.microsoft.com/office/drawing/2014/main" id="{7D753A02-0CDD-8205-70DE-7E4D323880B1}"/>
                </a:ext>
              </a:extLst>
            </p:cNvPr>
            <p:cNvSpPr txBox="1"/>
            <p:nvPr/>
          </p:nvSpPr>
          <p:spPr>
            <a:xfrm>
              <a:off x="-159658" y="8938538"/>
              <a:ext cx="3098800" cy="2391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2"/>
                </a:lnSpc>
              </a:pPr>
              <a:r>
                <a:rPr lang="en-US" sz="1350" b="1" dirty="0">
                  <a:solidFill>
                    <a:srgbClr val="7A1220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Text Messages</a:t>
              </a:r>
            </a:p>
          </p:txBody>
        </p:sp>
      </p:grpSp>
      <p:grpSp>
        <p:nvGrpSpPr>
          <p:cNvPr id="20" name="Group 12">
            <a:extLst>
              <a:ext uri="{FF2B5EF4-FFF2-40B4-BE49-F238E27FC236}">
                <a16:creationId xmlns:a16="http://schemas.microsoft.com/office/drawing/2014/main" id="{EDD26EC6-B4E0-0376-97D6-7A93D23F1A09}"/>
              </a:ext>
            </a:extLst>
          </p:cNvPr>
          <p:cNvGrpSpPr/>
          <p:nvPr/>
        </p:nvGrpSpPr>
        <p:grpSpPr>
          <a:xfrm>
            <a:off x="12471107" y="4057650"/>
            <a:ext cx="2667000" cy="495300"/>
            <a:chOff x="-558526" y="-1447800"/>
            <a:chExt cx="3556000" cy="660400"/>
          </a:xfrm>
        </p:grpSpPr>
        <p:grpSp>
          <p:nvGrpSpPr>
            <p:cNvPr id="21" name="Group 13">
              <a:extLst>
                <a:ext uri="{FF2B5EF4-FFF2-40B4-BE49-F238E27FC236}">
                  <a16:creationId xmlns:a16="http://schemas.microsoft.com/office/drawing/2014/main" id="{DA20B57C-314C-C1C0-705B-2660036D2A7D}"/>
                </a:ext>
              </a:extLst>
            </p:cNvPr>
            <p:cNvGrpSpPr/>
            <p:nvPr/>
          </p:nvGrpSpPr>
          <p:grpSpPr>
            <a:xfrm>
              <a:off x="-558526" y="-1447800"/>
              <a:ext cx="3556000" cy="660400"/>
              <a:chOff x="-558526" y="-1447800"/>
              <a:chExt cx="3556000" cy="660400"/>
            </a:xfrm>
          </p:grpSpPr>
          <p:sp>
            <p:nvSpPr>
              <p:cNvPr id="23" name="Freeform 14">
                <a:extLst>
                  <a:ext uri="{FF2B5EF4-FFF2-40B4-BE49-F238E27FC236}">
                    <a16:creationId xmlns:a16="http://schemas.microsoft.com/office/drawing/2014/main" id="{E501650C-1841-3902-6BB4-D2FDBB3559FC}"/>
                  </a:ext>
                </a:extLst>
              </p:cNvPr>
              <p:cNvSpPr/>
              <p:nvPr/>
            </p:nvSpPr>
            <p:spPr>
              <a:xfrm>
                <a:off x="-558526" y="-1447800"/>
                <a:ext cx="3556000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3556000" h="660400">
                    <a:moveTo>
                      <a:pt x="117929" y="0"/>
                    </a:moveTo>
                    <a:lnTo>
                      <a:pt x="3438072" y="0"/>
                    </a:lnTo>
                    <a:cubicBezTo>
                      <a:pt x="3503202" y="0"/>
                      <a:pt x="3556000" y="52798"/>
                      <a:pt x="3556000" y="117929"/>
                    </a:cubicBezTo>
                    <a:lnTo>
                      <a:pt x="3556000" y="542471"/>
                    </a:lnTo>
                    <a:cubicBezTo>
                      <a:pt x="3556000" y="607602"/>
                      <a:pt x="3503202" y="660400"/>
                      <a:pt x="3438072" y="660400"/>
                    </a:cubicBezTo>
                    <a:lnTo>
                      <a:pt x="117929" y="660400"/>
                    </a:lnTo>
                    <a:cubicBezTo>
                      <a:pt x="52798" y="660400"/>
                      <a:pt x="0" y="607602"/>
                      <a:pt x="0" y="542471"/>
                    </a:cubicBezTo>
                    <a:lnTo>
                      <a:pt x="0" y="117929"/>
                    </a:lnTo>
                    <a:cubicBezTo>
                      <a:pt x="0" y="52798"/>
                      <a:pt x="52798" y="0"/>
                      <a:pt x="117929" y="0"/>
                    </a:cubicBezTo>
                    <a:close/>
                  </a:path>
                </a:pathLst>
              </a:custGeom>
              <a:solidFill>
                <a:srgbClr val="5C0E19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IN" dirty="0"/>
              </a:p>
            </p:txBody>
          </p:sp>
        </p:grpSp>
        <p:sp>
          <p:nvSpPr>
            <p:cNvPr id="22" name="TextBox 15">
              <a:extLst>
                <a:ext uri="{FF2B5EF4-FFF2-40B4-BE49-F238E27FC236}">
                  <a16:creationId xmlns:a16="http://schemas.microsoft.com/office/drawing/2014/main" id="{CCD5AAE4-C4DD-538A-C637-D0B5F57990B3}"/>
                </a:ext>
              </a:extLst>
            </p:cNvPr>
            <p:cNvSpPr txBox="1"/>
            <p:nvPr/>
          </p:nvSpPr>
          <p:spPr>
            <a:xfrm>
              <a:off x="-295139" y="-1271488"/>
              <a:ext cx="3098800" cy="3077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2"/>
                </a:lnSpc>
              </a:pPr>
              <a:r>
                <a:rPr lang="en-US" sz="1350" b="1" dirty="0">
                  <a:solidFill>
                    <a:srgbClr val="FFFDFB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Contact Details</a:t>
              </a:r>
            </a:p>
          </p:txBody>
        </p:sp>
      </p:grpSp>
      <p:sp>
        <p:nvSpPr>
          <p:cNvPr id="25" name="AutoShape 11">
            <a:extLst>
              <a:ext uri="{FF2B5EF4-FFF2-40B4-BE49-F238E27FC236}">
                <a16:creationId xmlns:a16="http://schemas.microsoft.com/office/drawing/2014/main" id="{6BAF1998-2569-36F8-C290-DF9E9FB4CB80}"/>
              </a:ext>
            </a:extLst>
          </p:cNvPr>
          <p:cNvSpPr/>
          <p:nvPr/>
        </p:nvSpPr>
        <p:spPr>
          <a:xfrm>
            <a:off x="11952201" y="4305300"/>
            <a:ext cx="518906" cy="0"/>
          </a:xfrm>
          <a:prstGeom prst="line">
            <a:avLst/>
          </a:prstGeom>
          <a:ln w="19050" cap="rnd">
            <a:solidFill>
              <a:srgbClr val="C48793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66EC6F-5D25-48AE-16D7-A0BDB48F3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2801" y="1176540"/>
            <a:ext cx="6629400" cy="8995179"/>
          </a:xfrm>
          <a:prstGeom prst="rect">
            <a:avLst/>
          </a:prstGeom>
        </p:spPr>
      </p:pic>
      <p:sp>
        <p:nvSpPr>
          <p:cNvPr id="8" name="AutoShape 11">
            <a:extLst>
              <a:ext uri="{FF2B5EF4-FFF2-40B4-BE49-F238E27FC236}">
                <a16:creationId xmlns:a16="http://schemas.microsoft.com/office/drawing/2014/main" id="{C06A311A-0CBB-B971-F82E-1169F5DB9738}"/>
              </a:ext>
            </a:extLst>
          </p:cNvPr>
          <p:cNvSpPr/>
          <p:nvPr/>
        </p:nvSpPr>
        <p:spPr>
          <a:xfrm>
            <a:off x="4803895" y="4552950"/>
            <a:ext cx="518906" cy="0"/>
          </a:xfrm>
          <a:prstGeom prst="line">
            <a:avLst/>
          </a:prstGeom>
          <a:ln w="19050" cap="rnd">
            <a:solidFill>
              <a:srgbClr val="C48793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00007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C316D-66EA-029F-22CC-DF6AC8006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extLst>
              <a:ext uri="{FF2B5EF4-FFF2-40B4-BE49-F238E27FC236}">
                <a16:creationId xmlns:a16="http://schemas.microsoft.com/office/drawing/2014/main" id="{2F034A18-F0B6-7AE8-A5BB-A9BA4CEC51B7}"/>
              </a:ext>
            </a:extLst>
          </p:cNvPr>
          <p:cNvSpPr/>
          <p:nvPr/>
        </p:nvSpPr>
        <p:spPr>
          <a:xfrm>
            <a:off x="990600" y="1066800"/>
            <a:ext cx="16306800" cy="0"/>
          </a:xfrm>
          <a:prstGeom prst="line">
            <a:avLst/>
          </a:prstGeom>
          <a:ln w="19050" cap="flat">
            <a:solidFill>
              <a:srgbClr val="EFDC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431D912F-28F7-3DA9-80BC-B6E837BD8133}"/>
              </a:ext>
            </a:extLst>
          </p:cNvPr>
          <p:cNvSpPr txBox="1"/>
          <p:nvPr/>
        </p:nvSpPr>
        <p:spPr>
          <a:xfrm>
            <a:off x="1981200" y="419100"/>
            <a:ext cx="11239500" cy="42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50"/>
              </a:lnSpc>
            </a:pPr>
            <a:r>
              <a:rPr lang="en-US" sz="3150" b="1" dirty="0">
                <a:solidFill>
                  <a:srgbClr val="5C0E19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Contact Us UI JS 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ACDC5D5B-FC5B-6E66-D092-C0C2DEFCA907}"/>
              </a:ext>
            </a:extLst>
          </p:cNvPr>
          <p:cNvSpPr txBox="1"/>
          <p:nvPr/>
        </p:nvSpPr>
        <p:spPr>
          <a:xfrm>
            <a:off x="14668500" y="533400"/>
            <a:ext cx="26193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FOREVERWALE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9AF51430-0495-FD4F-ADE1-099E49290ACF}"/>
              </a:ext>
            </a:extLst>
          </p:cNvPr>
          <p:cNvSpPr txBox="1"/>
          <p:nvPr/>
        </p:nvSpPr>
        <p:spPr>
          <a:xfrm>
            <a:off x="990600" y="533400"/>
            <a:ext cx="95250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81DF19-7A0F-6FC6-A222-4B154BD0A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614" y="1790700"/>
            <a:ext cx="10240786" cy="769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70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8BD1A-9A8E-928D-EAF1-F08013DE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extLst>
              <a:ext uri="{FF2B5EF4-FFF2-40B4-BE49-F238E27FC236}">
                <a16:creationId xmlns:a16="http://schemas.microsoft.com/office/drawing/2014/main" id="{0DE85998-1486-1FBF-B78A-2458178DE604}"/>
              </a:ext>
            </a:extLst>
          </p:cNvPr>
          <p:cNvSpPr/>
          <p:nvPr/>
        </p:nvSpPr>
        <p:spPr>
          <a:xfrm>
            <a:off x="990600" y="1066800"/>
            <a:ext cx="16306800" cy="0"/>
          </a:xfrm>
          <a:prstGeom prst="line">
            <a:avLst/>
          </a:prstGeom>
          <a:ln w="19050" cap="flat">
            <a:solidFill>
              <a:srgbClr val="EFDC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C375E3F5-D546-9F4B-D6BD-4BE3A11CB642}"/>
              </a:ext>
            </a:extLst>
          </p:cNvPr>
          <p:cNvSpPr txBox="1"/>
          <p:nvPr/>
        </p:nvSpPr>
        <p:spPr>
          <a:xfrm>
            <a:off x="1981200" y="419100"/>
            <a:ext cx="11239500" cy="42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50"/>
              </a:lnSpc>
            </a:pPr>
            <a:r>
              <a:rPr lang="en-US" sz="3150" b="1" dirty="0">
                <a:solidFill>
                  <a:srgbClr val="5C0E19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Promises JS 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575A3668-9D32-B8ED-8AA4-9D01F0D41DE0}"/>
              </a:ext>
            </a:extLst>
          </p:cNvPr>
          <p:cNvSpPr txBox="1"/>
          <p:nvPr/>
        </p:nvSpPr>
        <p:spPr>
          <a:xfrm>
            <a:off x="14668500" y="533400"/>
            <a:ext cx="26193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FOREVERWALE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68DEEF73-B1F4-FD6F-F726-EE8F13DB2390}"/>
              </a:ext>
            </a:extLst>
          </p:cNvPr>
          <p:cNvSpPr txBox="1"/>
          <p:nvPr/>
        </p:nvSpPr>
        <p:spPr>
          <a:xfrm>
            <a:off x="990600" y="533400"/>
            <a:ext cx="95250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43" dirty="0">
                <a:solidFill>
                  <a:srgbClr val="7A1220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0A9AE5-BBAF-6878-E148-A9F7654A6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33350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10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533400"/>
            <a:ext cx="95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43">
                <a:solidFill>
                  <a:srgbClr val="C48793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13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38350" y="485775"/>
            <a:ext cx="11239500" cy="413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150" b="1">
                <a:solidFill>
                  <a:srgbClr val="FFFDF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Conclusion / Future Scope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668500" y="533400"/>
            <a:ext cx="26193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243">
                <a:solidFill>
                  <a:srgbClr val="EFDCD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FOREVERWALE</a:t>
            </a:r>
          </a:p>
        </p:txBody>
      </p:sp>
      <p:sp>
        <p:nvSpPr>
          <p:cNvPr id="5" name="AutoShape 5"/>
          <p:cNvSpPr/>
          <p:nvPr/>
        </p:nvSpPr>
        <p:spPr>
          <a:xfrm>
            <a:off x="990600" y="1066800"/>
            <a:ext cx="16306800" cy="0"/>
          </a:xfrm>
          <a:prstGeom prst="line">
            <a:avLst/>
          </a:prstGeom>
          <a:ln w="19050" cap="flat">
            <a:solidFill>
              <a:srgbClr val="C4879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9810750" y="1619250"/>
            <a:ext cx="7239000" cy="7239000"/>
            <a:chOff x="0" y="0"/>
            <a:chExt cx="9652000" cy="9652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652000" cy="9652000"/>
            </a:xfrm>
            <a:custGeom>
              <a:avLst/>
              <a:gdLst/>
              <a:ahLst/>
              <a:cxnLst/>
              <a:rect l="l" t="t" r="r" b="b"/>
              <a:pathLst>
                <a:path w="9652000" h="9652000">
                  <a:moveTo>
                    <a:pt x="635000" y="0"/>
                  </a:moveTo>
                  <a:lnTo>
                    <a:pt x="9017000" y="0"/>
                  </a:lnTo>
                  <a:cubicBezTo>
                    <a:pt x="9367701" y="0"/>
                    <a:pt x="9652000" y="284299"/>
                    <a:pt x="9652000" y="635000"/>
                  </a:cubicBezTo>
                  <a:lnTo>
                    <a:pt x="9652000" y="9017000"/>
                  </a:lnTo>
                  <a:cubicBezTo>
                    <a:pt x="9652000" y="9367701"/>
                    <a:pt x="9367701" y="9652000"/>
                    <a:pt x="9017000" y="9652000"/>
                  </a:cubicBezTo>
                  <a:lnTo>
                    <a:pt x="635000" y="9652000"/>
                  </a:lnTo>
                  <a:cubicBezTo>
                    <a:pt x="284299" y="9652000"/>
                    <a:pt x="0" y="9367701"/>
                    <a:pt x="0" y="9017000"/>
                  </a:cubicBezTo>
                  <a:lnTo>
                    <a:pt x="0" y="635000"/>
                  </a:lnTo>
                  <a:cubicBezTo>
                    <a:pt x="0" y="284299"/>
                    <a:pt x="284299" y="0"/>
                    <a:pt x="635000" y="0"/>
                  </a:cubicBezTo>
                  <a:close/>
                </a:path>
              </a:pathLst>
            </a:custGeom>
            <a:solidFill>
              <a:srgbClr val="7A1220">
                <a:alpha val="49804"/>
              </a:srgbClr>
            </a:solidFill>
            <a:ln cap="rnd">
              <a:noFill/>
              <a:prstDash val="solid"/>
              <a:round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990600" y="1971675"/>
            <a:ext cx="7810500" cy="1562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FFFDF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Built for trust.</a:t>
            </a:r>
          </a:p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FFFDF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Ready to grow.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0600" y="3924300"/>
            <a:ext cx="7239000" cy="1921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sz="1875">
                <a:solidFill>
                  <a:srgbClr val="EFDCD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Elegant family-centric experience</a:t>
            </a:r>
          </a:p>
          <a:p>
            <a:pPr algn="l">
              <a:lnSpc>
                <a:spcPts val="3093"/>
              </a:lnSpc>
            </a:pPr>
            <a:r>
              <a:rPr lang="en-US" sz="1875">
                <a:solidFill>
                  <a:srgbClr val="EFDCD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Responsive, accessible design system</a:t>
            </a:r>
          </a:p>
          <a:p>
            <a:pPr algn="l">
              <a:lnSpc>
                <a:spcPts val="3093"/>
              </a:lnSpc>
            </a:pPr>
            <a:r>
              <a:rPr lang="en-US" sz="1875">
                <a:solidFill>
                  <a:srgbClr val="EFDCD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Light and dark modes</a:t>
            </a:r>
          </a:p>
          <a:p>
            <a:pPr algn="l">
              <a:lnSpc>
                <a:spcPts val="3093"/>
              </a:lnSpc>
            </a:pPr>
            <a:r>
              <a:rPr lang="en-US" sz="1875">
                <a:solidFill>
                  <a:srgbClr val="EFDCD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Structured forms and navigation</a:t>
            </a:r>
          </a:p>
          <a:p>
            <a:pPr algn="l">
              <a:lnSpc>
                <a:spcPts val="3093"/>
              </a:lnSpc>
            </a:pPr>
            <a:r>
              <a:rPr lang="en-US" sz="1875">
                <a:solidFill>
                  <a:srgbClr val="EFDCD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Privacy-first UX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15625" y="2647950"/>
            <a:ext cx="476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43">
                <a:solidFill>
                  <a:srgbClr val="EFDCD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FUTURE SCOPE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15625" y="3152775"/>
            <a:ext cx="4953000" cy="2156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100">
                <a:solidFill>
                  <a:srgbClr val="FFFDF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Backend + database</a:t>
            </a:r>
          </a:p>
          <a:p>
            <a:pPr algn="l">
              <a:lnSpc>
                <a:spcPts val="3465"/>
              </a:lnSpc>
            </a:pPr>
            <a:r>
              <a:rPr lang="en-US" sz="2100">
                <a:solidFill>
                  <a:srgbClr val="FFFDF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Verified authentication</a:t>
            </a:r>
          </a:p>
          <a:p>
            <a:pPr algn="l">
              <a:lnSpc>
                <a:spcPts val="3465"/>
              </a:lnSpc>
            </a:pPr>
            <a:r>
              <a:rPr lang="en-US" sz="2100">
                <a:solidFill>
                  <a:srgbClr val="FFFDF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Real-time messaging</a:t>
            </a:r>
          </a:p>
          <a:p>
            <a:pPr algn="l">
              <a:lnSpc>
                <a:spcPts val="3465"/>
              </a:lnSpc>
            </a:pPr>
            <a:r>
              <a:rPr lang="en-US" sz="2100">
                <a:solidFill>
                  <a:srgbClr val="FFFDF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Advanced match intelligence</a:t>
            </a:r>
          </a:p>
          <a:p>
            <a:pPr algn="l">
              <a:lnSpc>
                <a:spcPts val="3465"/>
              </a:lnSpc>
            </a:pPr>
            <a:r>
              <a:rPr lang="en-US" sz="2100">
                <a:solidFill>
                  <a:srgbClr val="FFFDF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Cloud deployment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77000" y="9134475"/>
            <a:ext cx="10858500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400" b="1">
                <a:solidFill>
                  <a:srgbClr val="FFFDF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“ForeverWale — Bringing Families Together.”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563</Words>
  <Application>Microsoft Office PowerPoint</Application>
  <PresentationFormat>Custom</PresentationFormat>
  <Paragraphs>150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Calibri</vt:lpstr>
      <vt:lpstr>Cambria</vt:lpstr>
      <vt:lpstr>Arial</vt:lpstr>
      <vt:lpstr> Avenir Next Arabic</vt:lpstr>
      <vt:lpstr>IBM Plex Mono</vt:lpstr>
      <vt:lpstr>Cormorant Garamond Bold</vt:lpstr>
      <vt:lpstr>Aptos</vt:lpstr>
      <vt:lpstr> Avenir Next Arabic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Krishna gupta</cp:lastModifiedBy>
  <cp:revision>16</cp:revision>
  <dcterms:created xsi:type="dcterms:W3CDTF">2006-08-16T00:00:00Z</dcterms:created>
  <dcterms:modified xsi:type="dcterms:W3CDTF">2026-10-25T12:49:01Z</dcterms:modified>
  <dc:identifier>DAHSnHWcMLI</dc:identifier>
</cp:coreProperties>
</file>