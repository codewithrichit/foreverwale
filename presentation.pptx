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1" r:id="rId4"/>
    <p:sldId id="272" r:id="rId5"/>
    <p:sldId id="270" r:id="rId6"/>
    <p:sldId id="267" r:id="rId7"/>
    <p:sldId id="278" r:id="rId8"/>
    <p:sldId id="279" r:id="rId9"/>
    <p:sldId id="260" r:id="rId10"/>
    <p:sldId id="264" r:id="rId11"/>
    <p:sldId id="273" r:id="rId12"/>
    <p:sldId id="274" r:id="rId13"/>
    <p:sldId id="275" r:id="rId14"/>
    <p:sldId id="277" r:id="rId15"/>
    <p:sldId id="269" r:id="rId16"/>
  </p:sldIdLst>
  <p:sldSz cx="18288000" cy="10287000"/>
  <p:notesSz cx="6858000" cy="9144000"/>
  <p:embeddedFontLst>
    <p:embeddedFont>
      <p:font typeface=" Avenir Next Arabic" panose="020B0604020202020204" charset="-78"/>
      <p:regular r:id="rId18"/>
    </p:embeddedFont>
    <p:embeddedFont>
      <p:font typeface=" Avenir Next Arabic Bold" panose="020B0604020202020204" charset="-78"/>
      <p:regular r:id="rId19"/>
    </p:embeddedFont>
    <p:embeddedFont>
      <p:font typeface="Cambria" panose="02040503050406030204" pitchFamily="18" charset="0"/>
      <p:regular r:id="rId20"/>
      <p:bold r:id="rId21"/>
      <p:italic r:id="rId22"/>
      <p:boldItalic r:id="rId23"/>
    </p:embeddedFont>
    <p:embeddedFont>
      <p:font typeface="Cormorant Garamond Bold" panose="020B0604020202020204" charset="0"/>
      <p:regular r:id="rId24"/>
    </p:embeddedFont>
    <p:embeddedFont>
      <p:font typeface="IBM Plex Mono" panose="020B0509050203000203" pitchFamily="49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11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141D56-C555-44BE-87B4-79DB37294569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C58E44-8D98-4788-9719-B150E9F52C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7203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028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0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914400" y="-981075"/>
            <a:ext cx="19202400" cy="11268075"/>
            <a:chOff x="0" y="-38100"/>
            <a:chExt cx="25603200" cy="15024100"/>
          </a:xfrm>
        </p:grpSpPr>
        <p:sp>
          <p:nvSpPr>
            <p:cNvPr id="4" name="Freeform 4"/>
            <p:cNvSpPr/>
            <p:nvPr/>
          </p:nvSpPr>
          <p:spPr>
            <a:xfrm>
              <a:off x="10769600" y="1270000"/>
              <a:ext cx="14833600" cy="13716000"/>
            </a:xfrm>
            <a:custGeom>
              <a:avLst/>
              <a:gdLst/>
              <a:ahLst/>
              <a:cxnLst/>
              <a:rect l="l" t="t" r="r" b="b"/>
              <a:pathLst>
                <a:path w="15494000" h="13716000">
                  <a:moveTo>
                    <a:pt x="0" y="0"/>
                  </a:moveTo>
                  <a:lnTo>
                    <a:pt x="15494000" y="0"/>
                  </a:lnTo>
                  <a:lnTo>
                    <a:pt x="1549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chemeClr val="bg2"/>
            </a:solidFill>
            <a:ln cap="sq">
              <a:noFill/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549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90600" y="952500"/>
            <a:ext cx="1428750" cy="54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405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FW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0600" y="2733675"/>
            <a:ext cx="7810500" cy="1163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lang="en-US" sz="87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ForeverWale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0600" y="4019550"/>
            <a:ext cx="6667500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5"/>
              </a:lnSpc>
            </a:pPr>
            <a:r>
              <a:rPr lang="en-US" sz="2550" dirty="0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Trusted &amp; Family-Centric</a:t>
            </a:r>
          </a:p>
          <a:p>
            <a:pPr algn="l">
              <a:lnSpc>
                <a:spcPts val="3315"/>
              </a:lnSpc>
            </a:pPr>
            <a:r>
              <a:rPr lang="en-US" sz="2550" dirty="0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Matrimonial Platform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0600" y="8724900"/>
            <a:ext cx="5905500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350" b="1" spc="243" dirty="0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PROJECT PRESENTATION  •  AUGUST 24-AUGUST 26</a:t>
            </a:r>
          </a:p>
          <a:p>
            <a:pPr algn="l">
              <a:lnSpc>
                <a:spcPts val="2025"/>
              </a:lnSpc>
            </a:pPr>
            <a:r>
              <a:rPr lang="en-US" sz="1350" b="1" spc="243" dirty="0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Prepared by: Project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E8CEC95-398E-1AF1-BFD1-ED3A0E9424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571500"/>
            <a:ext cx="9144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Project Overview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782800" y="466298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8534400" y="1143000"/>
            <a:ext cx="9372600" cy="8244840"/>
            <a:chOff x="0" y="0"/>
            <a:chExt cx="9601200" cy="9652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601200" cy="9652000"/>
            </a:xfrm>
            <a:custGeom>
              <a:avLst/>
              <a:gdLst/>
              <a:ahLst/>
              <a:cxnLst/>
              <a:rect l="l" t="t" r="r" b="b"/>
              <a:pathLst>
                <a:path w="9601200" h="9652000">
                  <a:moveTo>
                    <a:pt x="53757" y="0"/>
                  </a:moveTo>
                  <a:lnTo>
                    <a:pt x="9547444" y="0"/>
                  </a:lnTo>
                  <a:cubicBezTo>
                    <a:pt x="9561701" y="0"/>
                    <a:pt x="9575374" y="5664"/>
                    <a:pt x="9585455" y="15745"/>
                  </a:cubicBezTo>
                  <a:cubicBezTo>
                    <a:pt x="9595536" y="25826"/>
                    <a:pt x="9601200" y="39499"/>
                    <a:pt x="9601200" y="53757"/>
                  </a:cubicBezTo>
                  <a:lnTo>
                    <a:pt x="9601200" y="9598244"/>
                  </a:lnTo>
                  <a:cubicBezTo>
                    <a:pt x="9601200" y="9612501"/>
                    <a:pt x="9595536" y="9626174"/>
                    <a:pt x="9585455" y="9636255"/>
                  </a:cubicBezTo>
                  <a:cubicBezTo>
                    <a:pt x="9575374" y="9646336"/>
                    <a:pt x="9561701" y="9652000"/>
                    <a:pt x="9547444" y="9652000"/>
                  </a:cubicBezTo>
                  <a:lnTo>
                    <a:pt x="53757" y="9652000"/>
                  </a:lnTo>
                  <a:cubicBezTo>
                    <a:pt x="39499" y="9652000"/>
                    <a:pt x="25826" y="9646336"/>
                    <a:pt x="15745" y="9636255"/>
                  </a:cubicBezTo>
                  <a:cubicBezTo>
                    <a:pt x="5664" y="9626174"/>
                    <a:pt x="0" y="9612501"/>
                    <a:pt x="0" y="9598244"/>
                  </a:cubicBezTo>
                  <a:lnTo>
                    <a:pt x="0" y="53757"/>
                  </a:lnTo>
                  <a:cubicBezTo>
                    <a:pt x="0" y="39499"/>
                    <a:pt x="5664" y="25826"/>
                    <a:pt x="15745" y="15745"/>
                  </a:cubicBezTo>
                  <a:cubicBezTo>
                    <a:pt x="25826" y="5664"/>
                    <a:pt x="39499" y="0"/>
                    <a:pt x="53757" y="0"/>
                  </a:cubicBezTo>
                  <a:close/>
                </a:path>
              </a:pathLst>
            </a:custGeom>
            <a:solidFill>
              <a:srgbClr val="EFDCD2"/>
            </a:solidFill>
            <a:ln cap="rnd">
              <a:noFill/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990600" y="1905000"/>
            <a:ext cx="8001000" cy="1413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Matchmaking built</a:t>
            </a:r>
          </a:p>
          <a:p>
            <a:pPr algn="l">
              <a:lnSpc>
                <a:spcPts val="5400"/>
              </a:lnSpc>
            </a:pPr>
            <a:r>
              <a:rPr lang="en-US" sz="540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around trust — and family.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0600" y="3876675"/>
            <a:ext cx="7429500" cy="170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2025" dirty="0" err="1">
                <a:solidFill>
                  <a:srgbClr val="2B2024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ForeverWale</a:t>
            </a:r>
            <a:r>
              <a:rPr lang="en-US" sz="2025" dirty="0">
                <a:solidFill>
                  <a:srgbClr val="2B2024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 is a family-oriented matrimonial website designed to make meaningful introductions feel safe, clear and respectful. It addresses the lack of trustworthy, family-first digital matchmaking through detailed profiles, useful filters and an easy-to-follow experience.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0600" y="6648450"/>
            <a:ext cx="2095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OBJECTIVE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0600" y="7096125"/>
            <a:ext cx="7429500" cy="730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6"/>
              </a:lnSpc>
            </a:pPr>
            <a:r>
              <a:rPr lang="en-US" sz="2175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secure, approachable platform where families can discover compatible matches with confidence.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E195F-CDC2-8155-B67C-DCB064639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1869" y="1355138"/>
            <a:ext cx="8885261" cy="7781480"/>
          </a:xfrm>
          <a:prstGeom prst="rect">
            <a:avLst/>
          </a:prstGeom>
        </p:spPr>
      </p:pic>
      <p:sp>
        <p:nvSpPr>
          <p:cNvPr id="15" name="AutoShape 5">
            <a:extLst>
              <a:ext uri="{FF2B5EF4-FFF2-40B4-BE49-F238E27FC236}">
                <a16:creationId xmlns:a16="http://schemas.microsoft.com/office/drawing/2014/main" id="{2A844983-2E3E-4DCE-C1D2-AFC8C847CCB1}"/>
              </a:ext>
            </a:extLst>
          </p:cNvPr>
          <p:cNvSpPr/>
          <p:nvPr/>
        </p:nvSpPr>
        <p:spPr>
          <a:xfrm>
            <a:off x="981075" y="1117979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754380"/>
            <a:ext cx="109728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kern="0" spc="45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0120" y="1234440"/>
            <a:ext cx="14401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1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60120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34440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MARKUP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header, nav, and footer structure across every page.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102352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02352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11" name="Text 9"/>
          <p:cNvSpPr/>
          <p:nvPr/>
        </p:nvSpPr>
        <p:spPr>
          <a:xfrm>
            <a:off x="5376672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376672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 for color and theme; Flexbox and CSS Grid for layout.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244584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44584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16" name="Text 14"/>
          <p:cNvSpPr/>
          <p:nvPr/>
        </p:nvSpPr>
        <p:spPr>
          <a:xfrm>
            <a:off x="9518904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 JS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18904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518904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toggle, mobile menu, form validation, and auth-state simulation.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3386816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386816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21" name="Text 19"/>
          <p:cNvSpPr/>
          <p:nvPr/>
        </p:nvSpPr>
        <p:spPr>
          <a:xfrm>
            <a:off x="13661136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3661136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CSS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661136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tailored for mobile, tablet, and desktop viewports.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60120" y="8641080"/>
            <a:ext cx="16322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25" i="1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assets/style.css and assets/app.js keep every new page visually and behaviorally consistent with the original homepage.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17053103" y="9532620"/>
            <a:ext cx="8229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50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754380"/>
            <a:ext cx="109728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kern="0" spc="45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ARCHITECTURE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0120" y="1234440"/>
            <a:ext cx="14401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1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 map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7406640" y="1303020"/>
            <a:ext cx="3429000" cy="960120"/>
          </a:xfrm>
          <a:prstGeom prst="roundRect">
            <a:avLst>
              <a:gd name="adj" fmla="val 11429"/>
            </a:avLst>
          </a:prstGeom>
          <a:solidFill>
            <a:srgbClr val="5C0E19"/>
          </a:solidFill>
          <a:ln/>
        </p:spPr>
      </p:sp>
      <p:sp>
        <p:nvSpPr>
          <p:cNvPr id="5" name="Text 3"/>
          <p:cNvSpPr/>
          <p:nvPr/>
        </p:nvSpPr>
        <p:spPr>
          <a:xfrm>
            <a:off x="7406640" y="1303020"/>
            <a:ext cx="3429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21140" y="2263140"/>
            <a:ext cx="0" cy="68580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20062" y="2948940"/>
            <a:ext cx="13647420" cy="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20062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332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61060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Matches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049546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80816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90544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Details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779030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300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20028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0508514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39784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49512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Us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237998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969268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2078996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67482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698752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4808480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/ Logout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028700" y="548640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27" name="Text 25"/>
          <p:cNvSpPr/>
          <p:nvPr/>
        </p:nvSpPr>
        <p:spPr>
          <a:xfrm>
            <a:off x="1028700" y="5486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28" name="Text 26"/>
          <p:cNvSpPr/>
          <p:nvPr/>
        </p:nvSpPr>
        <p:spPr>
          <a:xfrm>
            <a:off x="1714500" y="537667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shares the same fixed navigation bar, so all six destinations are always one click away.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028700" y="644652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30" name="Text 28"/>
          <p:cNvSpPr/>
          <p:nvPr/>
        </p:nvSpPr>
        <p:spPr>
          <a:xfrm>
            <a:off x="1028700" y="6446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31" name="Text 29"/>
          <p:cNvSpPr/>
          <p:nvPr/>
        </p:nvSpPr>
        <p:spPr>
          <a:xfrm>
            <a:off x="1714500" y="633679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/ Sign In swap for Logout automatically once a session is active — simulated via localStorage.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028700" y="740664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33" name="Text 31"/>
          <p:cNvSpPr/>
          <p:nvPr/>
        </p:nvSpPr>
        <p:spPr>
          <a:xfrm>
            <a:off x="1028700" y="74066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34" name="Text 32"/>
          <p:cNvSpPr/>
          <p:nvPr/>
        </p:nvSpPr>
        <p:spPr>
          <a:xfrm>
            <a:off x="1714500" y="729691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footer on every page mirrors the top navigation for quick access from anywhere on the site.</a:t>
            </a:r>
            <a:endParaRPr lang="en-US" sz="1875" dirty="0"/>
          </a:p>
        </p:txBody>
      </p:sp>
      <p:sp>
        <p:nvSpPr>
          <p:cNvPr id="35" name="Text 33"/>
          <p:cNvSpPr/>
          <p:nvPr/>
        </p:nvSpPr>
        <p:spPr>
          <a:xfrm>
            <a:off x="17053103" y="9532620"/>
            <a:ext cx="8229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50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>
            <a:extLst>
              <a:ext uri="{FF2B5EF4-FFF2-40B4-BE49-F238E27FC236}">
                <a16:creationId xmlns:a16="http://schemas.microsoft.com/office/drawing/2014/main" id="{FB39DBCD-A36F-E325-8EC9-8CA50ACBC287}"/>
              </a:ext>
            </a:extLst>
          </p:cNvPr>
          <p:cNvSpPr/>
          <p:nvPr/>
        </p:nvSpPr>
        <p:spPr>
          <a:xfrm>
            <a:off x="981075" y="1117979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D86A00D4-EBB9-8D91-B08B-C865109D88E4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Common CSS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203C0231-935F-99A2-EB4A-63EA8794267E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02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08972CBF-3F41-9FD3-C44E-6227A4FC119F}"/>
              </a:ext>
            </a:extLst>
          </p:cNvPr>
          <p:cNvSpPr txBox="1"/>
          <p:nvPr/>
        </p:nvSpPr>
        <p:spPr>
          <a:xfrm>
            <a:off x="14782800" y="466298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092FDD-68EB-760C-E7E1-698431E6B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643" y="1257300"/>
            <a:ext cx="5876925" cy="4876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3A05FC9-4A76-3C83-30D0-B1F5FD955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270085"/>
            <a:ext cx="6858000" cy="472205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147237E-4145-37B5-2BA2-9A6FFE6135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498" y="6387770"/>
            <a:ext cx="7010400" cy="3676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419421-8CCC-15C1-FB7F-D2306CAA24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9650" y="6349670"/>
            <a:ext cx="68389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82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Light &amp; Dark Mode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905000" y="9029700"/>
            <a:ext cx="8477250" cy="230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5"/>
              </a:lnSpc>
            </a:pPr>
            <a:r>
              <a:rPr lang="en-US" sz="1425" b="1" spc="256" dirty="0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LIGHT  ↔  DARK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287250" y="2247900"/>
            <a:ext cx="4572000" cy="2347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:root[data-theme="dark"] {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--red: #E36575;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--red-deep: #F0AAB3;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--rose: #D9A0AC;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--white: #1B1417;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--ink: #F3E9E5;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--blush: #3A2A2E;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}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B6FA49-AB94-9241-0D49-73166CDE2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1900" y="1666875"/>
            <a:ext cx="5905500" cy="7297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6EA421-E840-2D06-FAB6-9D679F1D1C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581505"/>
            <a:ext cx="10249371" cy="7340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alpha val="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A945F-4780-DF5F-CCE5-CF9FB3E1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2AE4E60-E4B6-3104-E7D0-744929CBF6CA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89000EC-F74C-D882-9818-225FB4BB6048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Loading UI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BDC9A5-54FC-0DFD-FADD-BC5C54FB826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650E2446-9964-6CAF-F6A0-4C9031C080DF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8CD1EA9-58CC-1E71-7F06-027284004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632373"/>
            <a:ext cx="9753599" cy="806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5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026F6D-8DDC-67A5-256F-08C085F9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9A847E5-8BDC-68B9-24A3-9F2D19F34E4B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939D76B2-ED14-6C6E-E2D2-37810B4E9135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Sign UP  AND Sign IN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CAEA17D-5E47-8434-CDB6-AD47DC3AFCD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323A7A4A-2DE9-DBCE-0503-61B1F98AF5EE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CF306C-20CF-F9FE-53E3-74D223B33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191" y="1104900"/>
            <a:ext cx="5628409" cy="84426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B51D64-3E41-7BF7-4F65-FDFB5F367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104900"/>
            <a:ext cx="6400800" cy="8442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90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Homepage UI Breakdown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143000" y="1952625"/>
            <a:ext cx="2667000" cy="495300"/>
            <a:chOff x="0" y="0"/>
            <a:chExt cx="3556000" cy="660400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Navigation + logo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3810000" y="2200275"/>
            <a:ext cx="952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4620875" y="2095500"/>
            <a:ext cx="2667000" cy="495300"/>
            <a:chOff x="0" y="0"/>
            <a:chExt cx="3556000" cy="66040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Theme + sign up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 flipH="1">
            <a:off x="14382750" y="2343150"/>
            <a:ext cx="238125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1047750" y="4333875"/>
            <a:ext cx="2667000" cy="495300"/>
            <a:chOff x="0" y="0"/>
            <a:chExt cx="3556000" cy="6604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Hero + primary CTA</a:t>
              </a:r>
            </a:p>
          </p:txBody>
        </p:sp>
      </p:grpSp>
      <p:sp>
        <p:nvSpPr>
          <p:cNvPr id="21" name="AutoShape 21"/>
          <p:cNvSpPr/>
          <p:nvPr/>
        </p:nvSpPr>
        <p:spPr>
          <a:xfrm>
            <a:off x="3714750" y="4581525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14573250" y="5619750"/>
            <a:ext cx="2667000" cy="495300"/>
            <a:chOff x="0" y="0"/>
            <a:chExt cx="3556000" cy="660400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Matching filters</a:t>
              </a:r>
            </a:p>
          </p:txBody>
        </p:sp>
      </p:grpSp>
      <p:sp>
        <p:nvSpPr>
          <p:cNvPr id="26" name="AutoShape 26"/>
          <p:cNvSpPr/>
          <p:nvPr/>
        </p:nvSpPr>
        <p:spPr>
          <a:xfrm flipH="1">
            <a:off x="14382750" y="586740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7" name="Group 27"/>
          <p:cNvGrpSpPr/>
          <p:nvPr/>
        </p:nvGrpSpPr>
        <p:grpSpPr>
          <a:xfrm>
            <a:off x="1047750" y="7239000"/>
            <a:ext cx="2667000" cy="495300"/>
            <a:chOff x="0" y="0"/>
            <a:chExt cx="3556000" cy="660400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Content sections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3714750" y="748665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2" name="Group 32"/>
          <p:cNvGrpSpPr/>
          <p:nvPr/>
        </p:nvGrpSpPr>
        <p:grpSpPr>
          <a:xfrm>
            <a:off x="14573250" y="8096250"/>
            <a:ext cx="2667000" cy="495300"/>
            <a:chOff x="0" y="0"/>
            <a:chExt cx="3556000" cy="660400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Footer</a:t>
              </a:r>
            </a:p>
          </p:txBody>
        </p:sp>
      </p:grpSp>
      <p:sp>
        <p:nvSpPr>
          <p:cNvPr id="36" name="AutoShape 36"/>
          <p:cNvSpPr/>
          <p:nvPr/>
        </p:nvSpPr>
        <p:spPr>
          <a:xfrm flipH="1">
            <a:off x="14382750" y="834390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TextBox 37"/>
          <p:cNvSpPr txBox="1"/>
          <p:nvPr/>
        </p:nvSpPr>
        <p:spPr>
          <a:xfrm>
            <a:off x="5048250" y="8924925"/>
            <a:ext cx="819150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1800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clear path from emotional introduction → search → proof → action.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6987CED-877D-7B28-0D21-3901D92D5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873" y="1234441"/>
            <a:ext cx="10429877" cy="73571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Responsive Design of Homepage UI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990600" y="1619250"/>
            <a:ext cx="6667500" cy="6572250"/>
            <a:chOff x="0" y="0"/>
            <a:chExt cx="8890000" cy="8763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890000" cy="8763000"/>
            </a:xfrm>
            <a:custGeom>
              <a:avLst/>
              <a:gdLst/>
              <a:ahLst/>
              <a:cxnLst/>
              <a:rect l="l" t="t" r="r" b="b"/>
              <a:pathLst>
                <a:path w="8890000" h="8763000">
                  <a:moveTo>
                    <a:pt x="50800" y="0"/>
                  </a:moveTo>
                  <a:lnTo>
                    <a:pt x="8839200" y="0"/>
                  </a:lnTo>
                  <a:cubicBezTo>
                    <a:pt x="8867256" y="0"/>
                    <a:pt x="8890000" y="22744"/>
                    <a:pt x="8890000" y="50800"/>
                  </a:cubicBezTo>
                  <a:lnTo>
                    <a:pt x="8890000" y="8712200"/>
                  </a:lnTo>
                  <a:cubicBezTo>
                    <a:pt x="8890000" y="8740256"/>
                    <a:pt x="8867256" y="8763000"/>
                    <a:pt x="8839200" y="8763000"/>
                  </a:cubicBezTo>
                  <a:lnTo>
                    <a:pt x="50800" y="8763000"/>
                  </a:lnTo>
                  <a:cubicBezTo>
                    <a:pt x="22744" y="8763000"/>
                    <a:pt x="0" y="8740256"/>
                    <a:pt x="0" y="8712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5C0E19"/>
            </a:solidFill>
            <a:ln cap="rnd">
              <a:noFill/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476375" y="2143125"/>
            <a:ext cx="5715000" cy="2507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@media (max-width: 880px) {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.nav-toggle { display: inline-flex; }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.nav-links {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width: 100%; max-height: 0;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overflow: hidden;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flex-direction: column;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}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72500" y="8553450"/>
            <a:ext cx="8715375" cy="263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7"/>
              </a:lnSpc>
            </a:pPr>
            <a:r>
              <a:rPr lang="en-US" sz="1650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Desktop → mobile: navigation becomes a clear vertical menu without sacrificing usability.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D5AAF6-F815-C1E0-EBED-F46DEF630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087" y="1536700"/>
            <a:ext cx="9663113" cy="665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A35DDB37-42CE-4A46-71C7-660DD1EDB634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B577D8DA-B060-E327-226A-67AECA055FC3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Find Matches UI 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5C92B625-96B9-1D6F-AE57-E4855BF080EC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FFB63683-FA0B-FE7A-16EE-F574486A7AE3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4572719-0F1B-B8E2-CCA7-2EC734506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7316"/>
            <a:ext cx="9236684" cy="7870552"/>
          </a:xfrm>
          <a:prstGeom prst="rect">
            <a:avLst/>
          </a:prstGeom>
        </p:spPr>
      </p:pic>
      <p:grpSp>
        <p:nvGrpSpPr>
          <p:cNvPr id="16" name="Group 7">
            <a:extLst>
              <a:ext uri="{FF2B5EF4-FFF2-40B4-BE49-F238E27FC236}">
                <a16:creationId xmlns:a16="http://schemas.microsoft.com/office/drawing/2014/main" id="{D992097D-4B7D-657A-98F0-39B1D9551430}"/>
              </a:ext>
            </a:extLst>
          </p:cNvPr>
          <p:cNvGrpSpPr/>
          <p:nvPr/>
        </p:nvGrpSpPr>
        <p:grpSpPr>
          <a:xfrm>
            <a:off x="819150" y="6743700"/>
            <a:ext cx="2667000" cy="495300"/>
            <a:chOff x="482600" y="6314440"/>
            <a:chExt cx="3556000" cy="660400"/>
          </a:xfrm>
        </p:grpSpPr>
        <p:grpSp>
          <p:nvGrpSpPr>
            <p:cNvPr id="17" name="Group 8">
              <a:extLst>
                <a:ext uri="{FF2B5EF4-FFF2-40B4-BE49-F238E27FC236}">
                  <a16:creationId xmlns:a16="http://schemas.microsoft.com/office/drawing/2014/main" id="{F50E81DE-A8F5-DE4D-8EE3-694239C54D17}"/>
                </a:ext>
              </a:extLst>
            </p:cNvPr>
            <p:cNvGrpSpPr/>
            <p:nvPr/>
          </p:nvGrpSpPr>
          <p:grpSpPr>
            <a:xfrm>
              <a:off x="482600" y="6314440"/>
              <a:ext cx="3556000" cy="660400"/>
              <a:chOff x="482600" y="6314440"/>
              <a:chExt cx="3556000" cy="660400"/>
            </a:xfrm>
          </p:grpSpPr>
          <p:sp>
            <p:nvSpPr>
              <p:cNvPr id="19" name="Freeform 9">
                <a:extLst>
                  <a:ext uri="{FF2B5EF4-FFF2-40B4-BE49-F238E27FC236}">
                    <a16:creationId xmlns:a16="http://schemas.microsoft.com/office/drawing/2014/main" id="{2BA6CBE6-D145-038B-75DB-7F7A85B0CCD0}"/>
                  </a:ext>
                </a:extLst>
              </p:cNvPr>
              <p:cNvSpPr/>
              <p:nvPr/>
            </p:nvSpPr>
            <p:spPr>
              <a:xfrm>
                <a:off x="482600" y="631444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248E8E54-518E-0D50-DBDB-065D6CC4B865}"/>
                </a:ext>
              </a:extLst>
            </p:cNvPr>
            <p:cNvSpPr txBox="1"/>
            <p:nvPr/>
          </p:nvSpPr>
          <p:spPr>
            <a:xfrm>
              <a:off x="635000" y="6507957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Profiles</a:t>
              </a:r>
            </a:p>
          </p:txBody>
        </p:sp>
      </p:grpSp>
      <p:sp>
        <p:nvSpPr>
          <p:cNvPr id="21" name="AutoShape 11">
            <a:extLst>
              <a:ext uri="{FF2B5EF4-FFF2-40B4-BE49-F238E27FC236}">
                <a16:creationId xmlns:a16="http://schemas.microsoft.com/office/drawing/2014/main" id="{3CD1344D-0D06-D258-AB36-ABD6F36F9C46}"/>
              </a:ext>
            </a:extLst>
          </p:cNvPr>
          <p:cNvSpPr/>
          <p:nvPr/>
        </p:nvSpPr>
        <p:spPr>
          <a:xfrm>
            <a:off x="3486150" y="699135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12">
            <a:extLst>
              <a:ext uri="{FF2B5EF4-FFF2-40B4-BE49-F238E27FC236}">
                <a16:creationId xmlns:a16="http://schemas.microsoft.com/office/drawing/2014/main" id="{058B9A13-949B-7191-4878-D2FD739BB914}"/>
              </a:ext>
            </a:extLst>
          </p:cNvPr>
          <p:cNvGrpSpPr/>
          <p:nvPr/>
        </p:nvGrpSpPr>
        <p:grpSpPr>
          <a:xfrm>
            <a:off x="13980134" y="3219450"/>
            <a:ext cx="2667000" cy="495300"/>
            <a:chOff x="0" y="0"/>
            <a:chExt cx="3556000" cy="660400"/>
          </a:xfrm>
        </p:grpSpPr>
        <p:grpSp>
          <p:nvGrpSpPr>
            <p:cNvPr id="23" name="Group 13">
              <a:extLst>
                <a:ext uri="{FF2B5EF4-FFF2-40B4-BE49-F238E27FC236}">
                  <a16:creationId xmlns:a16="http://schemas.microsoft.com/office/drawing/2014/main" id="{0DC39A73-E389-08DD-0D72-8ADDEFCA2491}"/>
                </a:ext>
              </a:extLst>
            </p:cNvPr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5" name="Freeform 14">
                <a:extLst>
                  <a:ext uri="{FF2B5EF4-FFF2-40B4-BE49-F238E27FC236}">
                    <a16:creationId xmlns:a16="http://schemas.microsoft.com/office/drawing/2014/main" id="{F37423DD-02BC-686F-5515-16356FD01B6D}"/>
                  </a:ext>
                </a:extLst>
              </p:cNvPr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991A8B4A-21CE-14A9-E89A-7D63E40E3AD9}"/>
                </a:ext>
              </a:extLst>
            </p:cNvPr>
            <p:cNvSpPr txBox="1"/>
            <p:nvPr/>
          </p:nvSpPr>
          <p:spPr>
            <a:xfrm>
              <a:off x="228600" y="146051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Search Bar</a:t>
              </a:r>
            </a:p>
          </p:txBody>
        </p:sp>
      </p:grpSp>
      <p:sp>
        <p:nvSpPr>
          <p:cNvPr id="27" name="AutoShape 11">
            <a:extLst>
              <a:ext uri="{FF2B5EF4-FFF2-40B4-BE49-F238E27FC236}">
                <a16:creationId xmlns:a16="http://schemas.microsoft.com/office/drawing/2014/main" id="{99A6D9A1-99BF-3077-7F57-39E04D836FB9}"/>
              </a:ext>
            </a:extLst>
          </p:cNvPr>
          <p:cNvSpPr/>
          <p:nvPr/>
        </p:nvSpPr>
        <p:spPr>
          <a:xfrm>
            <a:off x="13351484" y="346710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0673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5">
            <a:extLst>
              <a:ext uri="{FF2B5EF4-FFF2-40B4-BE49-F238E27FC236}">
                <a16:creationId xmlns:a16="http://schemas.microsoft.com/office/drawing/2014/main" id="{C3C27B6B-60C1-30DB-473B-A82CB762B38C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18AD968E-D572-2EDD-D380-5BCC48375EF6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7BD90DD9-BCF9-192B-BD2F-3DDFCA102DB4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Post your details UI 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ACDDA8A3-0B08-F031-5780-DDD2FBD8BCA6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24D4E6-B812-A71B-8A9B-E3BF3FC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1332300"/>
            <a:ext cx="8131093" cy="8482028"/>
          </a:xfrm>
          <a:prstGeom prst="rect">
            <a:avLst/>
          </a:prstGeom>
        </p:spPr>
      </p:pic>
      <p:grpSp>
        <p:nvGrpSpPr>
          <p:cNvPr id="18" name="Group 7">
            <a:extLst>
              <a:ext uri="{FF2B5EF4-FFF2-40B4-BE49-F238E27FC236}">
                <a16:creationId xmlns:a16="http://schemas.microsoft.com/office/drawing/2014/main" id="{82D3F42C-889E-356A-01AC-C18840E74E2C}"/>
              </a:ext>
            </a:extLst>
          </p:cNvPr>
          <p:cNvGrpSpPr/>
          <p:nvPr/>
        </p:nvGrpSpPr>
        <p:grpSpPr>
          <a:xfrm>
            <a:off x="1581150" y="4904509"/>
            <a:ext cx="2667000" cy="495300"/>
            <a:chOff x="482600" y="6314440"/>
            <a:chExt cx="3556000" cy="660400"/>
          </a:xfrm>
        </p:grpSpPr>
        <p:grpSp>
          <p:nvGrpSpPr>
            <p:cNvPr id="19" name="Group 8">
              <a:extLst>
                <a:ext uri="{FF2B5EF4-FFF2-40B4-BE49-F238E27FC236}">
                  <a16:creationId xmlns:a16="http://schemas.microsoft.com/office/drawing/2014/main" id="{81873A6D-E515-9313-95B2-7A23FBD4DD90}"/>
                </a:ext>
              </a:extLst>
            </p:cNvPr>
            <p:cNvGrpSpPr/>
            <p:nvPr/>
          </p:nvGrpSpPr>
          <p:grpSpPr>
            <a:xfrm>
              <a:off x="482600" y="6314440"/>
              <a:ext cx="3556000" cy="660400"/>
              <a:chOff x="482600" y="6314440"/>
              <a:chExt cx="3556000" cy="660400"/>
            </a:xfrm>
          </p:grpSpPr>
          <p:sp>
            <p:nvSpPr>
              <p:cNvPr id="21" name="Freeform 9">
                <a:extLst>
                  <a:ext uri="{FF2B5EF4-FFF2-40B4-BE49-F238E27FC236}">
                    <a16:creationId xmlns:a16="http://schemas.microsoft.com/office/drawing/2014/main" id="{234184A6-4411-75DF-CEEF-FDAD9D52556A}"/>
                  </a:ext>
                </a:extLst>
              </p:cNvPr>
              <p:cNvSpPr/>
              <p:nvPr/>
            </p:nvSpPr>
            <p:spPr>
              <a:xfrm>
                <a:off x="482600" y="631444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0" name="TextBox 10">
              <a:extLst>
                <a:ext uri="{FF2B5EF4-FFF2-40B4-BE49-F238E27FC236}">
                  <a16:creationId xmlns:a16="http://schemas.microsoft.com/office/drawing/2014/main" id="{D4D1A0C0-0626-8042-B677-0522B5BF21B8}"/>
                </a:ext>
              </a:extLst>
            </p:cNvPr>
            <p:cNvSpPr txBox="1"/>
            <p:nvPr/>
          </p:nvSpPr>
          <p:spPr>
            <a:xfrm>
              <a:off x="635000" y="6507957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Personal Form</a:t>
              </a:r>
            </a:p>
          </p:txBody>
        </p:sp>
      </p:grpSp>
      <p:sp>
        <p:nvSpPr>
          <p:cNvPr id="23" name="AutoShape 11">
            <a:extLst>
              <a:ext uri="{FF2B5EF4-FFF2-40B4-BE49-F238E27FC236}">
                <a16:creationId xmlns:a16="http://schemas.microsoft.com/office/drawing/2014/main" id="{FE7E9A37-F69B-8F08-3FC5-3FD8BDC4ACE7}"/>
              </a:ext>
            </a:extLst>
          </p:cNvPr>
          <p:cNvSpPr/>
          <p:nvPr/>
        </p:nvSpPr>
        <p:spPr>
          <a:xfrm>
            <a:off x="4248150" y="5152159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4" name="Group 12">
            <a:extLst>
              <a:ext uri="{FF2B5EF4-FFF2-40B4-BE49-F238E27FC236}">
                <a16:creationId xmlns:a16="http://schemas.microsoft.com/office/drawing/2014/main" id="{757F3C90-6F10-11B4-E396-6DD00ADF0426}"/>
              </a:ext>
            </a:extLst>
          </p:cNvPr>
          <p:cNvGrpSpPr/>
          <p:nvPr/>
        </p:nvGrpSpPr>
        <p:grpSpPr>
          <a:xfrm>
            <a:off x="13615761" y="2152650"/>
            <a:ext cx="2667000" cy="495300"/>
            <a:chOff x="-540052" y="-1422400"/>
            <a:chExt cx="3556000" cy="660400"/>
          </a:xfrm>
        </p:grpSpPr>
        <p:grpSp>
          <p:nvGrpSpPr>
            <p:cNvPr id="25" name="Group 13">
              <a:extLst>
                <a:ext uri="{FF2B5EF4-FFF2-40B4-BE49-F238E27FC236}">
                  <a16:creationId xmlns:a16="http://schemas.microsoft.com/office/drawing/2014/main" id="{E28B7243-5EB0-F008-FE99-352F434F15F7}"/>
                </a:ext>
              </a:extLst>
            </p:cNvPr>
            <p:cNvGrpSpPr/>
            <p:nvPr/>
          </p:nvGrpSpPr>
          <p:grpSpPr>
            <a:xfrm>
              <a:off x="-540052" y="-1422400"/>
              <a:ext cx="3556000" cy="660400"/>
              <a:chOff x="-540052" y="-1422400"/>
              <a:chExt cx="3556000" cy="660400"/>
            </a:xfrm>
          </p:grpSpPr>
          <p:sp>
            <p:nvSpPr>
              <p:cNvPr id="27" name="Freeform 14">
                <a:extLst>
                  <a:ext uri="{FF2B5EF4-FFF2-40B4-BE49-F238E27FC236}">
                    <a16:creationId xmlns:a16="http://schemas.microsoft.com/office/drawing/2014/main" id="{8558C644-B2FC-7989-F270-1BD8934C9781}"/>
                  </a:ext>
                </a:extLst>
              </p:cNvPr>
              <p:cNvSpPr/>
              <p:nvPr/>
            </p:nvSpPr>
            <p:spPr>
              <a:xfrm>
                <a:off x="-540052" y="-14224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6" name="TextBox 15">
              <a:extLst>
                <a:ext uri="{FF2B5EF4-FFF2-40B4-BE49-F238E27FC236}">
                  <a16:creationId xmlns:a16="http://schemas.microsoft.com/office/drawing/2014/main" id="{BC82759E-DAE7-97E8-6D9B-8BA55B0E36A5}"/>
                </a:ext>
              </a:extLst>
            </p:cNvPr>
            <p:cNvSpPr txBox="1"/>
            <p:nvPr/>
          </p:nvSpPr>
          <p:spPr>
            <a:xfrm>
              <a:off x="-488951" y="-12460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Details Posting</a:t>
              </a:r>
            </a:p>
          </p:txBody>
        </p:sp>
      </p:grpSp>
      <p:sp>
        <p:nvSpPr>
          <p:cNvPr id="29" name="AutoShape 11">
            <a:extLst>
              <a:ext uri="{FF2B5EF4-FFF2-40B4-BE49-F238E27FC236}">
                <a16:creationId xmlns:a16="http://schemas.microsoft.com/office/drawing/2014/main" id="{3F02735D-23F7-293D-B113-C88735B18270}"/>
              </a:ext>
            </a:extLst>
          </p:cNvPr>
          <p:cNvSpPr/>
          <p:nvPr/>
        </p:nvSpPr>
        <p:spPr>
          <a:xfrm>
            <a:off x="13007893" y="240030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8082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56454B78-A124-2498-F931-AB37DFFC6180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3210D1DB-E572-C74C-2435-26EF142E5E18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About Us UI 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F5DC848C-1F9E-CB0A-37A3-B52A4010DA1D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3CC4E706-7ECC-E620-8B88-BE89B0FC6978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F16657-0C34-C300-D465-9619D0D0F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152295"/>
            <a:ext cx="11049000" cy="8868005"/>
          </a:xfrm>
          <a:prstGeom prst="rect">
            <a:avLst/>
          </a:prstGeom>
        </p:spPr>
      </p:pic>
      <p:grpSp>
        <p:nvGrpSpPr>
          <p:cNvPr id="14" name="Group 7">
            <a:extLst>
              <a:ext uri="{FF2B5EF4-FFF2-40B4-BE49-F238E27FC236}">
                <a16:creationId xmlns:a16="http://schemas.microsoft.com/office/drawing/2014/main" id="{910B92CF-3F31-1535-E552-1ADEF79C1661}"/>
              </a:ext>
            </a:extLst>
          </p:cNvPr>
          <p:cNvGrpSpPr/>
          <p:nvPr/>
        </p:nvGrpSpPr>
        <p:grpSpPr>
          <a:xfrm>
            <a:off x="542925" y="7734300"/>
            <a:ext cx="2800350" cy="637309"/>
            <a:chOff x="-388257" y="8762227"/>
            <a:chExt cx="3556000" cy="660400"/>
          </a:xfrm>
        </p:grpSpPr>
        <p:grpSp>
          <p:nvGrpSpPr>
            <p:cNvPr id="15" name="Group 8">
              <a:extLst>
                <a:ext uri="{FF2B5EF4-FFF2-40B4-BE49-F238E27FC236}">
                  <a16:creationId xmlns:a16="http://schemas.microsoft.com/office/drawing/2014/main" id="{18DC5204-D87E-6B90-2565-D7F62E2371C6}"/>
                </a:ext>
              </a:extLst>
            </p:cNvPr>
            <p:cNvGrpSpPr/>
            <p:nvPr/>
          </p:nvGrpSpPr>
          <p:grpSpPr>
            <a:xfrm>
              <a:off x="-388257" y="8762227"/>
              <a:ext cx="3556000" cy="660400"/>
              <a:chOff x="-388257" y="8762227"/>
              <a:chExt cx="3556000" cy="660400"/>
            </a:xfrm>
          </p:grpSpPr>
          <p:sp>
            <p:nvSpPr>
              <p:cNvPr id="17" name="Freeform 9">
                <a:extLst>
                  <a:ext uri="{FF2B5EF4-FFF2-40B4-BE49-F238E27FC236}">
                    <a16:creationId xmlns:a16="http://schemas.microsoft.com/office/drawing/2014/main" id="{E275D28D-2BE3-F8E4-68B9-984727480740}"/>
                  </a:ext>
                </a:extLst>
              </p:cNvPr>
              <p:cNvSpPr/>
              <p:nvPr/>
            </p:nvSpPr>
            <p:spPr>
              <a:xfrm>
                <a:off x="-388257" y="8762227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66ADBF72-B878-C859-D17A-6E15802C9BC7}"/>
                </a:ext>
              </a:extLst>
            </p:cNvPr>
            <p:cNvSpPr txBox="1"/>
            <p:nvPr/>
          </p:nvSpPr>
          <p:spPr>
            <a:xfrm>
              <a:off x="-159658" y="8938538"/>
              <a:ext cx="3098800" cy="23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Policies</a:t>
              </a:r>
            </a:p>
          </p:txBody>
        </p:sp>
      </p:grpSp>
      <p:grpSp>
        <p:nvGrpSpPr>
          <p:cNvPr id="20" name="Group 12">
            <a:extLst>
              <a:ext uri="{FF2B5EF4-FFF2-40B4-BE49-F238E27FC236}">
                <a16:creationId xmlns:a16="http://schemas.microsoft.com/office/drawing/2014/main" id="{950E2D6B-049C-0FCB-0718-D5CC2898E62B}"/>
              </a:ext>
            </a:extLst>
          </p:cNvPr>
          <p:cNvGrpSpPr/>
          <p:nvPr/>
        </p:nvGrpSpPr>
        <p:grpSpPr>
          <a:xfrm>
            <a:off x="15325725" y="4133850"/>
            <a:ext cx="2667000" cy="495300"/>
            <a:chOff x="-558526" y="-1447800"/>
            <a:chExt cx="3556000" cy="660400"/>
          </a:xfrm>
        </p:grpSpPr>
        <p:grpSp>
          <p:nvGrpSpPr>
            <p:cNvPr id="21" name="Group 13">
              <a:extLst>
                <a:ext uri="{FF2B5EF4-FFF2-40B4-BE49-F238E27FC236}">
                  <a16:creationId xmlns:a16="http://schemas.microsoft.com/office/drawing/2014/main" id="{5F71FF9B-7C0C-6175-532A-AF3E71A2ECF3}"/>
                </a:ext>
              </a:extLst>
            </p:cNvPr>
            <p:cNvGrpSpPr/>
            <p:nvPr/>
          </p:nvGrpSpPr>
          <p:grpSpPr>
            <a:xfrm>
              <a:off x="-558526" y="-1447800"/>
              <a:ext cx="3556000" cy="660400"/>
              <a:chOff x="-558526" y="-1447800"/>
              <a:chExt cx="3556000" cy="660400"/>
            </a:xfrm>
          </p:grpSpPr>
          <p:sp>
            <p:nvSpPr>
              <p:cNvPr id="23" name="Freeform 14">
                <a:extLst>
                  <a:ext uri="{FF2B5EF4-FFF2-40B4-BE49-F238E27FC236}">
                    <a16:creationId xmlns:a16="http://schemas.microsoft.com/office/drawing/2014/main" id="{7D9BB6AE-11C3-0B74-65D8-A64EDF1EF7B1}"/>
                  </a:ext>
                </a:extLst>
              </p:cNvPr>
              <p:cNvSpPr/>
              <p:nvPr/>
            </p:nvSpPr>
            <p:spPr>
              <a:xfrm>
                <a:off x="-558526" y="-14478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2" name="TextBox 15">
              <a:extLst>
                <a:ext uri="{FF2B5EF4-FFF2-40B4-BE49-F238E27FC236}">
                  <a16:creationId xmlns:a16="http://schemas.microsoft.com/office/drawing/2014/main" id="{308D8D12-CB09-B757-91EC-F0F0DBED072C}"/>
                </a:ext>
              </a:extLst>
            </p:cNvPr>
            <p:cNvSpPr txBox="1"/>
            <p:nvPr/>
          </p:nvSpPr>
          <p:spPr>
            <a:xfrm>
              <a:off x="-295139" y="-12714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Main Goal</a:t>
              </a:r>
            </a:p>
          </p:txBody>
        </p:sp>
      </p:grpSp>
      <p:sp>
        <p:nvSpPr>
          <p:cNvPr id="25" name="AutoShape 11">
            <a:extLst>
              <a:ext uri="{FF2B5EF4-FFF2-40B4-BE49-F238E27FC236}">
                <a16:creationId xmlns:a16="http://schemas.microsoft.com/office/drawing/2014/main" id="{0E27C925-8B96-FDD3-5BDC-5139C364EF9C}"/>
              </a:ext>
            </a:extLst>
          </p:cNvPr>
          <p:cNvSpPr/>
          <p:nvPr/>
        </p:nvSpPr>
        <p:spPr>
          <a:xfrm>
            <a:off x="14859000" y="438150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1412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1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56CE0-F198-04E0-70D1-1D4DA147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4CAAC903-0EB8-B54D-F31C-D2AB78A875CB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56F732B4-06E2-B52A-51A0-B54547847861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Contact Us UI 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C5BEE1F2-A223-2145-310B-C21F27E41BB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8B6FD80E-D0C4-369E-8CC7-7034674B8EC7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grpSp>
        <p:nvGrpSpPr>
          <p:cNvPr id="14" name="Group 7">
            <a:extLst>
              <a:ext uri="{FF2B5EF4-FFF2-40B4-BE49-F238E27FC236}">
                <a16:creationId xmlns:a16="http://schemas.microsoft.com/office/drawing/2014/main" id="{29D805F0-F812-E83F-949A-D7353E8A14EC}"/>
              </a:ext>
            </a:extLst>
          </p:cNvPr>
          <p:cNvGrpSpPr/>
          <p:nvPr/>
        </p:nvGrpSpPr>
        <p:grpSpPr>
          <a:xfrm>
            <a:off x="1943100" y="4234295"/>
            <a:ext cx="2800350" cy="637309"/>
            <a:chOff x="-339876" y="8727935"/>
            <a:chExt cx="3556000" cy="660400"/>
          </a:xfrm>
        </p:grpSpPr>
        <p:grpSp>
          <p:nvGrpSpPr>
            <p:cNvPr id="15" name="Group 8">
              <a:extLst>
                <a:ext uri="{FF2B5EF4-FFF2-40B4-BE49-F238E27FC236}">
                  <a16:creationId xmlns:a16="http://schemas.microsoft.com/office/drawing/2014/main" id="{784E4233-E43C-75A3-5CC7-1501077E5753}"/>
                </a:ext>
              </a:extLst>
            </p:cNvPr>
            <p:cNvGrpSpPr/>
            <p:nvPr/>
          </p:nvGrpSpPr>
          <p:grpSpPr>
            <a:xfrm>
              <a:off x="-339876" y="8727935"/>
              <a:ext cx="3556000" cy="660400"/>
              <a:chOff x="-339876" y="8727935"/>
              <a:chExt cx="3556000" cy="660400"/>
            </a:xfrm>
          </p:grpSpPr>
          <p:sp>
            <p:nvSpPr>
              <p:cNvPr id="17" name="Freeform 9">
                <a:extLst>
                  <a:ext uri="{FF2B5EF4-FFF2-40B4-BE49-F238E27FC236}">
                    <a16:creationId xmlns:a16="http://schemas.microsoft.com/office/drawing/2014/main" id="{25A1D49A-6C84-DE42-3186-9B7B3FB6201D}"/>
                  </a:ext>
                </a:extLst>
              </p:cNvPr>
              <p:cNvSpPr/>
              <p:nvPr/>
            </p:nvSpPr>
            <p:spPr>
              <a:xfrm>
                <a:off x="-339876" y="8727935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7D753A02-0CDD-8205-70DE-7E4D323880B1}"/>
                </a:ext>
              </a:extLst>
            </p:cNvPr>
            <p:cNvSpPr txBox="1"/>
            <p:nvPr/>
          </p:nvSpPr>
          <p:spPr>
            <a:xfrm>
              <a:off x="-159658" y="8938538"/>
              <a:ext cx="3098800" cy="23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Text Messages</a:t>
              </a:r>
            </a:p>
          </p:txBody>
        </p:sp>
      </p:grpSp>
      <p:grpSp>
        <p:nvGrpSpPr>
          <p:cNvPr id="20" name="Group 12">
            <a:extLst>
              <a:ext uri="{FF2B5EF4-FFF2-40B4-BE49-F238E27FC236}">
                <a16:creationId xmlns:a16="http://schemas.microsoft.com/office/drawing/2014/main" id="{EDD26EC6-B4E0-0376-97D6-7A93D23F1A09}"/>
              </a:ext>
            </a:extLst>
          </p:cNvPr>
          <p:cNvGrpSpPr/>
          <p:nvPr/>
        </p:nvGrpSpPr>
        <p:grpSpPr>
          <a:xfrm>
            <a:off x="12471107" y="4057650"/>
            <a:ext cx="2667000" cy="495300"/>
            <a:chOff x="-558526" y="-1447800"/>
            <a:chExt cx="3556000" cy="660400"/>
          </a:xfrm>
        </p:grpSpPr>
        <p:grpSp>
          <p:nvGrpSpPr>
            <p:cNvPr id="21" name="Group 13">
              <a:extLst>
                <a:ext uri="{FF2B5EF4-FFF2-40B4-BE49-F238E27FC236}">
                  <a16:creationId xmlns:a16="http://schemas.microsoft.com/office/drawing/2014/main" id="{DA20B57C-314C-C1C0-705B-2660036D2A7D}"/>
                </a:ext>
              </a:extLst>
            </p:cNvPr>
            <p:cNvGrpSpPr/>
            <p:nvPr/>
          </p:nvGrpSpPr>
          <p:grpSpPr>
            <a:xfrm>
              <a:off x="-558526" y="-1447800"/>
              <a:ext cx="3556000" cy="660400"/>
              <a:chOff x="-558526" y="-1447800"/>
              <a:chExt cx="3556000" cy="660400"/>
            </a:xfrm>
          </p:grpSpPr>
          <p:sp>
            <p:nvSpPr>
              <p:cNvPr id="23" name="Freeform 14">
                <a:extLst>
                  <a:ext uri="{FF2B5EF4-FFF2-40B4-BE49-F238E27FC236}">
                    <a16:creationId xmlns:a16="http://schemas.microsoft.com/office/drawing/2014/main" id="{E501650C-1841-3902-6BB4-D2FDBB3559FC}"/>
                  </a:ext>
                </a:extLst>
              </p:cNvPr>
              <p:cNvSpPr/>
              <p:nvPr/>
            </p:nvSpPr>
            <p:spPr>
              <a:xfrm>
                <a:off x="-558526" y="-14478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2" name="TextBox 15">
              <a:extLst>
                <a:ext uri="{FF2B5EF4-FFF2-40B4-BE49-F238E27FC236}">
                  <a16:creationId xmlns:a16="http://schemas.microsoft.com/office/drawing/2014/main" id="{CCD5AAE4-C4DD-538A-C637-D0B5F57990B3}"/>
                </a:ext>
              </a:extLst>
            </p:cNvPr>
            <p:cNvSpPr txBox="1"/>
            <p:nvPr/>
          </p:nvSpPr>
          <p:spPr>
            <a:xfrm>
              <a:off x="-295139" y="-12714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Contact Details</a:t>
              </a:r>
            </a:p>
          </p:txBody>
        </p:sp>
      </p:grpSp>
      <p:sp>
        <p:nvSpPr>
          <p:cNvPr id="25" name="AutoShape 11">
            <a:extLst>
              <a:ext uri="{FF2B5EF4-FFF2-40B4-BE49-F238E27FC236}">
                <a16:creationId xmlns:a16="http://schemas.microsoft.com/office/drawing/2014/main" id="{6BAF1998-2569-36F8-C290-DF9E9FB4CB80}"/>
              </a:ext>
            </a:extLst>
          </p:cNvPr>
          <p:cNvSpPr/>
          <p:nvPr/>
        </p:nvSpPr>
        <p:spPr>
          <a:xfrm>
            <a:off x="11952201" y="430530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66EC6F-5D25-48AE-16D7-A0BDB48F3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801" y="1176540"/>
            <a:ext cx="6629400" cy="8995179"/>
          </a:xfrm>
          <a:prstGeom prst="rect">
            <a:avLst/>
          </a:prstGeom>
        </p:spPr>
      </p:pic>
      <p:sp>
        <p:nvSpPr>
          <p:cNvPr id="8" name="AutoShape 11">
            <a:extLst>
              <a:ext uri="{FF2B5EF4-FFF2-40B4-BE49-F238E27FC236}">
                <a16:creationId xmlns:a16="http://schemas.microsoft.com/office/drawing/2014/main" id="{C06A311A-0CBB-B971-F82E-1169F5DB9738}"/>
              </a:ext>
            </a:extLst>
          </p:cNvPr>
          <p:cNvSpPr/>
          <p:nvPr/>
        </p:nvSpPr>
        <p:spPr>
          <a:xfrm>
            <a:off x="4803895" y="455295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0007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0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13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 / Future Scope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9810750" y="1619250"/>
            <a:ext cx="7239000" cy="7239000"/>
            <a:chOff x="0" y="0"/>
            <a:chExt cx="9652000" cy="9652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652000" cy="9652000"/>
            </a:xfrm>
            <a:custGeom>
              <a:avLst/>
              <a:gdLst/>
              <a:ahLst/>
              <a:cxnLst/>
              <a:rect l="l" t="t" r="r" b="b"/>
              <a:pathLst>
                <a:path w="9652000" h="9652000">
                  <a:moveTo>
                    <a:pt x="635000" y="0"/>
                  </a:moveTo>
                  <a:lnTo>
                    <a:pt x="9017000" y="0"/>
                  </a:lnTo>
                  <a:cubicBezTo>
                    <a:pt x="9367701" y="0"/>
                    <a:pt x="9652000" y="284299"/>
                    <a:pt x="9652000" y="635000"/>
                  </a:cubicBezTo>
                  <a:lnTo>
                    <a:pt x="9652000" y="9017000"/>
                  </a:lnTo>
                  <a:cubicBezTo>
                    <a:pt x="9652000" y="9367701"/>
                    <a:pt x="9367701" y="9652000"/>
                    <a:pt x="9017000" y="9652000"/>
                  </a:cubicBezTo>
                  <a:lnTo>
                    <a:pt x="635000" y="9652000"/>
                  </a:lnTo>
                  <a:cubicBezTo>
                    <a:pt x="284299" y="9652000"/>
                    <a:pt x="0" y="9367701"/>
                    <a:pt x="0" y="9017000"/>
                  </a:cubicBezTo>
                  <a:lnTo>
                    <a:pt x="0" y="635000"/>
                  </a:lnTo>
                  <a:cubicBezTo>
                    <a:pt x="0" y="284299"/>
                    <a:pt x="284299" y="0"/>
                    <a:pt x="635000" y="0"/>
                  </a:cubicBezTo>
                  <a:close/>
                </a:path>
              </a:pathLst>
            </a:custGeom>
            <a:solidFill>
              <a:srgbClr val="7A1220">
                <a:alpha val="49804"/>
              </a:srgbClr>
            </a:solidFill>
            <a:ln cap="rnd">
              <a:noFill/>
              <a:prstDash val="solid"/>
              <a:round/>
            </a:ln>
          </p:spPr>
        </p:sp>
      </p:grpSp>
      <p:sp>
        <p:nvSpPr>
          <p:cNvPr id="8" name="TextBox 8"/>
          <p:cNvSpPr txBox="1"/>
          <p:nvPr/>
        </p:nvSpPr>
        <p:spPr>
          <a:xfrm>
            <a:off x="990600" y="1971675"/>
            <a:ext cx="7810500" cy="1562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Built for trust.</a:t>
            </a:r>
          </a:p>
          <a:p>
            <a:pPr algn="l">
              <a:lnSpc>
                <a:spcPts val="6000"/>
              </a:lnSpc>
            </a:pPr>
            <a:r>
              <a:rPr lang="en-US" sz="60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Ready to grow.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0600" y="3924300"/>
            <a:ext cx="7239000" cy="1921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Elegant family-centric experience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Responsive, accessible design system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Light and dark modes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Structured forms and navigation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Privacy-first UX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715625" y="2647950"/>
            <a:ext cx="476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FUTURE SCOPE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715625" y="3152775"/>
            <a:ext cx="4953000" cy="2156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Backend + database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Verified authentication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Real-time messaging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Advanced match intelligence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Cloud deployment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77000" y="9134475"/>
            <a:ext cx="10858500" cy="327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4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“ForeverWale — Bringing Families Together.”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521</Words>
  <Application>Microsoft Office PowerPoint</Application>
  <PresentationFormat>Custom</PresentationFormat>
  <Paragraphs>128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Cormorant Garamond Bold</vt:lpstr>
      <vt:lpstr>Calibri</vt:lpstr>
      <vt:lpstr>Arial</vt:lpstr>
      <vt:lpstr> Avenir Next Arabic Bold</vt:lpstr>
      <vt:lpstr>Cambria</vt:lpstr>
      <vt:lpstr> Avenir Next Arabic</vt:lpstr>
      <vt:lpstr>Aptos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Krishna gupta</cp:lastModifiedBy>
  <cp:revision>12</cp:revision>
  <dcterms:created xsi:type="dcterms:W3CDTF">2006-08-16T00:00:00Z</dcterms:created>
  <dcterms:modified xsi:type="dcterms:W3CDTF">2026-08-19T09:58:48Z</dcterms:modified>
  <dc:identifier>DAHSnHWcMLI</dc:identifier>
</cp:coreProperties>
</file>